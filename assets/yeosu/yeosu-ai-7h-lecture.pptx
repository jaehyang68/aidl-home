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오류 포함</c:v>
                </c:pt>
              </c:strCache>
            </c:strRef>
          </c:tx>
          <c:spPr>
            <a:solidFill>
              <a:srgbClr val="EC4899"/>
            </a:solidFill>
          </c:spPr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45.1</c:v>
                </c:pt>
                <c:pt idx="1">
                  <c:v>46.6</c:v>
                </c:pt>
                <c:pt idx="2">
                  <c:v>92.34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정정 후</c:v>
                </c:pt>
              </c:strCache>
            </c:strRef>
          </c:tx>
          <c:spPr>
            <a:solidFill>
              <a:srgbClr val="34D399"/>
            </a:solidFill>
          </c:spPr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45.1</c:v>
                </c:pt>
                <c:pt idx="1">
                  <c:v>46.6</c:v>
                </c:pt>
                <c:pt idx="2">
                  <c:v>49.14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A4296"/>
            </a:solidFill>
          </a:ln>
        </c:spPr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 w="9525">
              <a:solidFill>
                <a:srgbClr val="3B347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B4B8DC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6" Type="http://schemas.microsoft.com/office/2007/relationships/media" Target="../media/media1.mp4"/><Relationship Id="rId7" Type="http://schemas.openxmlformats.org/officeDocument/2006/relationships/video" Target="../media/media1.mp4"/><Relationship Id="rId8" Type="http://schemas.openxmlformats.org/officeDocument/2006/relationships/image" Target="../media/image6.jpg"/><Relationship Id="rId9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6" Type="http://schemas.openxmlformats.org/officeDocument/2006/relationships/chart" Target="../charts/char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697480"/>
            <a:ext cx="7040880" cy="1188720"/>
          </a:xfrm>
        </p:spPr>
        <p:txBody>
          <a:bodyPr wrap="square" lIns="73152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AI 업무 효율화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96012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3080" y="502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960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AI 챗GPT강사 · AI영화감독 최재향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776980" cy="347472"/>
          </a:xfrm>
          <a:prstGeom prst="roundRect">
            <a:avLst>
              <a:gd name="adj" fmla="val 50000"/>
            </a:avLst>
          </a:prstGeom>
          <a:solidFill>
            <a:srgbClr val="241E5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7769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여수 중소기업 · 원데이 특강 · 총 7시간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6858000" cy="685800"/>
          </a:xfrm>
          <a:prstGeom prst="rect">
            <a:avLst/>
          </a:prstGeom>
          <a:noFill/>
        </p:spPr>
        <p:txBody>
          <a:bodyPr wrap="square" lIns="73152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여수 직장인을 위한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40480"/>
            <a:ext cx="6858000" cy="777240"/>
          </a:xfrm>
          <a:prstGeom prst="rect">
            <a:avLst/>
          </a:prstGeom>
          <a:noFill/>
        </p:spPr>
        <p:txBody>
          <a:bodyPr wrap="square" lIns="73152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&amp; 홍보 콘텐츠 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63440"/>
            <a:ext cx="6583680" cy="777240"/>
          </a:xfrm>
          <a:prstGeom prst="rect">
            <a:avLst/>
          </a:prstGeom>
          <a:noFill/>
        </p:spPr>
        <p:txBody>
          <a:bodyPr wrap="square" lIns="73152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어려운 용어 없이, 하루 만에 '내 업무에 바로 쓰는' 결과물을 완성합니다.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1000759" cy="402336"/>
          </a:xfrm>
          <a:prstGeom prst="roundRect">
            <a:avLst>
              <a:gd name="adj" fmla="val 50000"/>
            </a:avLst>
          </a:prstGeom>
          <a:solidFill>
            <a:srgbClr val="241E5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00759" cy="40233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9127" y="566928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51735" y="5669280"/>
            <a:ext cx="1000759" cy="402336"/>
          </a:xfrm>
          <a:prstGeom prst="roundRect">
            <a:avLst>
              <a:gd name="adj" fmla="val 50000"/>
            </a:avLst>
          </a:prstGeom>
          <a:solidFill>
            <a:srgbClr val="241E5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51735" y="5669280"/>
            <a:ext cx="1000759" cy="40233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783" y="566928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3391" y="5669280"/>
            <a:ext cx="1000759" cy="402336"/>
          </a:xfrm>
          <a:prstGeom prst="roundRect">
            <a:avLst>
              <a:gd name="adj" fmla="val 50000"/>
            </a:avLst>
          </a:prstGeom>
          <a:solidFill>
            <a:srgbClr val="241E5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3391" y="5669280"/>
            <a:ext cx="1000759" cy="40233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2440" y="566928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5048" y="5669280"/>
            <a:ext cx="1000759" cy="402336"/>
          </a:xfrm>
          <a:prstGeom prst="roundRect">
            <a:avLst>
              <a:gd name="adj" fmla="val 50000"/>
            </a:avLst>
          </a:prstGeom>
          <a:solidFill>
            <a:srgbClr val="241E5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5048" y="5669280"/>
            <a:ext cx="1000759" cy="40233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pic>
        <p:nvPicPr>
          <p:cNvPr id="23" name="Picture 22" descr="car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02920"/>
            <a:ext cx="3941077" cy="58521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6720" y="53492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최재향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852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AI강사 · AI영화감독 · 연구소 대표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480560"/>
            <a:ext cx="1995170" cy="420624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480560"/>
            <a:ext cx="1995170" cy="42062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100% 무료 도구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1463040"/>
            <a:ext cx="2214880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463040"/>
            <a:ext cx="221488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지시 → 검수 → 저장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최재향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소개합니다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6052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6052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강사 소개 영상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 / 81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68880"/>
            <a:ext cx="1325880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88620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AIDL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691640"/>
            <a:ext cx="7982712" cy="45720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1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ntro_video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212848" y="1801368"/>
            <a:ext cx="7772400" cy="4370832"/>
          </a:xfrm>
          <a:prstGeom prst="rect">
            <a:avLst/>
          </a:prstGeom>
        </p:spPr>
      </p:pic>
      <p:pic>
        <p:nvPicPr>
          <p:cNvPr id="15" name="Picture 14" descr="circ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0" y="2468880"/>
            <a:ext cx="1325880" cy="1325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58400" y="388620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AI강사 · AI영화감독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AI를 쉽게, 콘텐츠를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성과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만드는 사람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1861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1861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강사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 / 81</a:t>
            </a:r>
          </a:p>
        </p:txBody>
      </p:sp>
      <p:pic>
        <p:nvPicPr>
          <p:cNvPr id="11" name="Picture 10" descr="circ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737360"/>
            <a:ext cx="27432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526280"/>
            <a:ext cx="3200400" cy="594360"/>
          </a:xfrm>
          <a:prstGeom prst="rect">
            <a:avLst/>
          </a:prstGeom>
          <a:noFill/>
        </p:spPr>
        <p:txBody>
          <a:bodyPr wrap="square" lIns="4572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최재향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02352"/>
            <a:ext cx="3383280" cy="365760"/>
          </a:xfrm>
          <a:prstGeom prst="rect">
            <a:avLst/>
          </a:prstGeom>
          <a:noFill/>
        </p:spPr>
        <p:txBody>
          <a:bodyPr wrap="square" lIns="4572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대표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577840"/>
            <a:ext cx="95123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577840"/>
            <a:ext cx="951230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AI강사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5577840"/>
            <a:ext cx="1306830" cy="36576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5577840"/>
            <a:ext cx="1306830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AI영화감독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1783080"/>
            <a:ext cx="2377440" cy="1417320"/>
          </a:xfrm>
          <a:prstGeom prst="roundRect">
            <a:avLst>
              <a:gd name="adj" fmla="val 11612"/>
            </a:avLst>
          </a:prstGeom>
          <a:solidFill>
            <a:srgbClr val="1A1640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847088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lang="ko-KR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10권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560320"/>
            <a:ext cx="219456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783080"/>
            <a:ext cx="2377440" cy="1417320"/>
          </a:xfrm>
          <a:prstGeom prst="roundRect">
            <a:avLst>
              <a:gd name="adj" fmla="val 11612"/>
            </a:avLst>
          </a:prstGeom>
          <a:solidFill>
            <a:srgbClr val="1A1640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847088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6건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60320"/>
            <a:ext cx="219456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영화제·공모전 수상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783080"/>
            <a:ext cx="2377440" cy="1417320"/>
          </a:xfrm>
          <a:prstGeom prst="roundRect">
            <a:avLst>
              <a:gd name="adj" fmla="val 11612"/>
            </a:avLst>
          </a:prstGeom>
          <a:solidFill>
            <a:srgbClr val="1A1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847088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수석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560320"/>
            <a:ext cx="219456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인공지능콘텐츠 강사 1급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42900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23360" y="3593592"/>
            <a:ext cx="82296" cy="2414016"/>
          </a:xfrm>
          <a:prstGeom prst="roundRect">
            <a:avLst>
              <a:gd name="adj" fmla="val 44444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520440"/>
            <a:ext cx="32918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대표 저서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977639"/>
            <a:ext cx="3291840" cy="2194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이것이 AI 리터러시다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이것이 AI 에이전트 챗봇이다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크리에이티브, 광고 혁신을 선도하다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중소상공인을 위한 생성형 AI 챗GPT 홍보 마케팅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42900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63840" y="3593592"/>
            <a:ext cx="82296" cy="241401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520440"/>
            <a:ext cx="32918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강의 이력 (일부)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977639"/>
            <a:ext cx="3291840" cy="2194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완주 인재개발원: 중견·고위공무원 AI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농업기술센터: AI 유튜브·SNS 마케팅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공주대 산학협력단: 소상공인 AI 활용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사회서비스원: 데이터분석·시각화 보고서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집에 가져가는 것: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결과물 7개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3639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3639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4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670048" cy="210312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196596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입사식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33172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AI 이름 + 안전 신호등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783080"/>
            <a:ext cx="2670048" cy="210312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8728" y="1965960"/>
            <a:ext cx="566928" cy="5669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96596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업무지시서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697480"/>
            <a:ext cx="233172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내 프롬프트 카드 1호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1783080"/>
            <a:ext cx="2670048" cy="210312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45936" y="196596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196596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 3종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697480"/>
            <a:ext cx="233172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이번 주 실제 보낼 문서 1건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3" y="1783080"/>
            <a:ext cx="2670048" cy="210312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53143" y="1965960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3" y="196596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2697480"/>
            <a:ext cx="233172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7항목 회의록 1건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023360"/>
            <a:ext cx="2670048" cy="210312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1905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206240"/>
            <a:ext cx="566928" cy="566928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19" y="420624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이상값 헌터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937760"/>
            <a:ext cx="233172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대표 보고용 원페이지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4023360"/>
            <a:ext cx="2670048" cy="210312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38728" y="4206240"/>
            <a:ext cx="566928" cy="566928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8728" y="42062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420624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홍보팀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8728" y="4937760"/>
            <a:ext cx="233172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카드뉴스 5장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5" y="4023360"/>
            <a:ext cx="2670048" cy="210312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45936" y="4206240"/>
            <a:ext cx="566928" cy="56692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42062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6" y="420624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앱·비서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937760"/>
            <a:ext cx="233172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내 웹앱 + 업무비서 + 30일 계획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70263" y="4023360"/>
            <a:ext cx="2670048" cy="2103120"/>
          </a:xfrm>
          <a:prstGeom prst="roundRect">
            <a:avLst>
              <a:gd name="adj" fmla="val 7826"/>
            </a:avLst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61703" y="4206240"/>
            <a:ext cx="2487168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100% 무료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61703" y="5029200"/>
            <a:ext cx="2487168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ChatGPT · Gemini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구글 슬라이드 · Canvas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로드맵: 오전은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기초·문서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오후는 </a:t>
            </a:r>
            <a:r>
              <a:rPr sz="3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데이터·홍보·앱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3639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3639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여정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5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217678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217678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오전  09:00 ~ 12:15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737360"/>
            <a:ext cx="217678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737360"/>
            <a:ext cx="217678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오후  13:15 ~ 17:00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31720"/>
            <a:ext cx="1481328" cy="3063240"/>
          </a:xfrm>
          <a:prstGeom prst="roundRect">
            <a:avLst>
              <a:gd name="adj" fmla="val 12345"/>
            </a:avLst>
          </a:prstGeom>
          <a:solidFill>
            <a:srgbClr val="1A1640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331720"/>
            <a:ext cx="1481328" cy="14630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264" y="26517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29000"/>
            <a:ext cx="1481328" cy="7315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481328" cy="6400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역사·안전·입사식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1481328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09:00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9696" y="2331720"/>
            <a:ext cx="1481328" cy="3063240"/>
          </a:xfrm>
          <a:prstGeom prst="roundRect">
            <a:avLst>
              <a:gd name="adj" fmla="val 12345"/>
            </a:avLst>
          </a:prstGeom>
          <a:solidFill>
            <a:srgbClr val="1A1640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39696" y="2331720"/>
            <a:ext cx="1481328" cy="14630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60320" y="265176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9696" y="3429000"/>
            <a:ext cx="1481328" cy="7315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업무지시서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9696" y="4114800"/>
            <a:ext cx="1481328" cy="6400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프롬프트 6요소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4846320"/>
            <a:ext cx="1481328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10:30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30752" y="2331720"/>
            <a:ext cx="1481328" cy="3063240"/>
          </a:xfrm>
          <a:prstGeom prst="roundRect">
            <a:avLst>
              <a:gd name="adj" fmla="val 12345"/>
            </a:avLst>
          </a:prstGeom>
          <a:solidFill>
            <a:srgbClr val="1A1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30752" y="2331720"/>
            <a:ext cx="1481328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51376" y="265176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51376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3429000"/>
            <a:ext cx="1481328" cy="7315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 3종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4114800"/>
            <a:ext cx="1481328" cy="6400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메일·공지·보고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0752" y="4846320"/>
            <a:ext cx="1481328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11:25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21807" y="2331720"/>
            <a:ext cx="1481328" cy="3063240"/>
          </a:xfrm>
          <a:prstGeom prst="roundRect">
            <a:avLst>
              <a:gd name="adj" fmla="val 12345"/>
            </a:avLst>
          </a:prstGeom>
          <a:solidFill>
            <a:srgbClr val="1A164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21807" y="2331720"/>
            <a:ext cx="1481328" cy="14630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42431" y="265176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42431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7" y="3429000"/>
            <a:ext cx="1481328" cy="7315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7" y="4114800"/>
            <a:ext cx="1481328" cy="6400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요약·7항목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21807" y="4846320"/>
            <a:ext cx="1481328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13:15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12864" y="2331720"/>
            <a:ext cx="1481328" cy="3063240"/>
          </a:xfrm>
          <a:prstGeom prst="roundRect">
            <a:avLst>
              <a:gd name="adj" fmla="val 12345"/>
            </a:avLst>
          </a:prstGeom>
          <a:solidFill>
            <a:srgbClr val="1A1640"/>
          </a:solidFill>
          <a:ln w="1905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12864" y="2331720"/>
            <a:ext cx="1481328" cy="146304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33488" y="2651760"/>
            <a:ext cx="640080" cy="6400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3488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2864" y="3429000"/>
            <a:ext cx="1481328" cy="7315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이상값 헌터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12864" y="4114800"/>
            <a:ext cx="1481328" cy="6400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데이터 분석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2864" y="4846320"/>
            <a:ext cx="1481328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14:00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03919" y="2331720"/>
            <a:ext cx="1481328" cy="3063240"/>
          </a:xfrm>
          <a:prstGeom prst="roundRect">
            <a:avLst>
              <a:gd name="adj" fmla="val 12345"/>
            </a:avLst>
          </a:prstGeom>
          <a:solidFill>
            <a:srgbClr val="1A1640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03919" y="2331720"/>
            <a:ext cx="1481328" cy="14630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24544" y="265176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24544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19" y="3429000"/>
            <a:ext cx="1481328" cy="7315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홍보팀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19" y="4114800"/>
            <a:ext cx="1481328" cy="6400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카드뉴스·이미지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19" y="4846320"/>
            <a:ext cx="1481328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15:00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94976" y="2331720"/>
            <a:ext cx="1481328" cy="3063240"/>
          </a:xfrm>
          <a:prstGeom prst="roundRect">
            <a:avLst>
              <a:gd name="adj" fmla="val 12345"/>
            </a:avLst>
          </a:prstGeom>
          <a:solidFill>
            <a:srgbClr val="1A1640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094976" y="2331720"/>
            <a:ext cx="1481328" cy="14630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15600" y="265176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15600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94976" y="3429000"/>
            <a:ext cx="1481328" cy="7315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앱·비서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94976" y="4114800"/>
            <a:ext cx="1481328" cy="6400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바이브코딩·졸업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94976" y="4846320"/>
            <a:ext cx="1481328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16:00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931920" y="5669280"/>
            <a:ext cx="2740660" cy="384048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0" y="5669280"/>
            <a:ext cx="274066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점심시간  12:15 ~ 13:15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669280"/>
            <a:ext cx="320040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교시마다 휴식 10분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신입사원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아델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하루 만에 에이스로 키우기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417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417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스토리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444752" cy="868680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8B5CF6"/>
              </a:gs>
              <a:gs pos="100000">
                <a:srgbClr val="6D4FE0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285232"/>
            <a:ext cx="1444752" cy="822960"/>
          </a:xfrm>
          <a:prstGeom prst="rect">
            <a:avLst/>
          </a:prstGeom>
          <a:noFill/>
        </p:spPr>
        <p:txBody>
          <a:bodyPr wrap="square" lIns="27432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Lv1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754880"/>
            <a:ext cx="1444752" cy="1325880"/>
          </a:xfrm>
          <a:prstGeom prst="roundRect">
            <a:avLst>
              <a:gd name="adj" fmla="val 9655"/>
            </a:avLst>
          </a:prstGeom>
          <a:gradFill rotWithShape="1">
            <a:gsLst>
              <a:gs pos="0">
                <a:srgbClr val="7C6CF2"/>
              </a:gs>
              <a:gs pos="100000">
                <a:srgbClr val="5B7C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4828032"/>
            <a:ext cx="1444752" cy="822960"/>
          </a:xfrm>
          <a:prstGeom prst="rect">
            <a:avLst/>
          </a:prstGeom>
          <a:noFill/>
        </p:spPr>
        <p:txBody>
          <a:bodyPr wrap="square" lIns="27432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Lv2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297680"/>
            <a:ext cx="1444752" cy="1783080"/>
          </a:xfrm>
          <a:prstGeom prst="roundRect">
            <a:avLst>
              <a:gd name="adj" fmla="val 8860"/>
            </a:avLst>
          </a:prstGeom>
          <a:gradFill rotWithShape="1">
            <a:gsLst>
              <a:gs pos="0">
                <a:srgbClr val="5B8DF7"/>
              </a:gs>
              <a:gs pos="100000">
                <a:srgbClr val="38A3F8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4370832"/>
            <a:ext cx="1444752" cy="822960"/>
          </a:xfrm>
          <a:prstGeom prst="rect">
            <a:avLst/>
          </a:prstGeom>
          <a:noFill/>
        </p:spPr>
        <p:txBody>
          <a:bodyPr wrap="square" lIns="27432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Lv3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840480"/>
            <a:ext cx="1444752" cy="2240280"/>
          </a:xfrm>
          <a:prstGeom prst="roundRect">
            <a:avLst>
              <a:gd name="adj" fmla="val 8860"/>
            </a:avLst>
          </a:prstGeom>
          <a:gradFill rotWithShape="1">
            <a:gsLst>
              <a:gs pos="0">
                <a:srgbClr val="38BDF8"/>
              </a:gs>
              <a:gs pos="100000">
                <a:srgbClr val="22C7E6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913632"/>
            <a:ext cx="1444752" cy="822960"/>
          </a:xfrm>
          <a:prstGeom prst="rect">
            <a:avLst/>
          </a:prstGeom>
          <a:noFill/>
        </p:spPr>
        <p:txBody>
          <a:bodyPr wrap="square" lIns="27432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Lv4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요약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383280"/>
            <a:ext cx="1444752" cy="2697480"/>
          </a:xfrm>
          <a:prstGeom prst="roundRect">
            <a:avLst>
              <a:gd name="adj" fmla="val 8860"/>
            </a:avLst>
          </a:prstGeom>
          <a:gradFill rotWithShape="1">
            <a:gsLst>
              <a:gs pos="0">
                <a:srgbClr val="22D3EE"/>
              </a:gs>
              <a:gs pos="100000">
                <a:srgbClr val="2DD4BF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456432"/>
            <a:ext cx="1444752" cy="822960"/>
          </a:xfrm>
          <a:prstGeom prst="rect">
            <a:avLst/>
          </a:prstGeom>
          <a:noFill/>
        </p:spPr>
        <p:txBody>
          <a:bodyPr wrap="square" lIns="27432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Lv5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검수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926080"/>
            <a:ext cx="1444752" cy="3154680"/>
          </a:xfrm>
          <a:prstGeom prst="roundRect">
            <a:avLst>
              <a:gd name="adj" fmla="val 8860"/>
            </a:avLst>
          </a:prstGeom>
          <a:gradFill rotWithShape="1">
            <a:gsLst>
              <a:gs pos="0">
                <a:srgbClr val="2DD4BF"/>
              </a:gs>
              <a:gs pos="100000">
                <a:srgbClr val="34D399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999232"/>
            <a:ext cx="1444752" cy="822960"/>
          </a:xfrm>
          <a:prstGeom prst="rect">
            <a:avLst/>
          </a:prstGeom>
          <a:noFill/>
        </p:spPr>
        <p:txBody>
          <a:bodyPr wrap="square" lIns="27432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Lv6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홍보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59" y="2468880"/>
            <a:ext cx="1444752" cy="3611880"/>
          </a:xfrm>
          <a:prstGeom prst="roundRect">
            <a:avLst>
              <a:gd name="adj" fmla="val 8860"/>
            </a:avLst>
          </a:prstGeom>
          <a:gradFill rotWithShape="1">
            <a:gsLst>
              <a:gs pos="0">
                <a:srgbClr val="EC4899"/>
              </a:gs>
              <a:gs pos="100000">
                <a:srgbClr val="FB718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9" y="2542032"/>
            <a:ext cx="1444752" cy="822960"/>
          </a:xfrm>
          <a:prstGeom prst="rect">
            <a:avLst/>
          </a:prstGeom>
          <a:noFill/>
        </p:spPr>
        <p:txBody>
          <a:bodyPr wrap="square" lIns="27432" rIns="27432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Lv7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에이스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4434840"/>
            <a:ext cx="640080" cy="640080"/>
          </a:xfrm>
          <a:prstGeom prst="ellipse">
            <a:avLst/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434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신입</a:t>
            </a:r>
          </a:p>
        </p:txBody>
      </p:sp>
      <p:sp>
        <p:nvSpPr>
          <p:cNvPr id="27" name="Oval 26"/>
          <p:cNvSpPr/>
          <p:nvPr/>
        </p:nvSpPr>
        <p:spPr>
          <a:xfrm>
            <a:off x="10305287" y="2194560"/>
            <a:ext cx="777240" cy="777240"/>
          </a:xfrm>
          <a:prstGeom prst="ellipse">
            <a:avLst/>
          </a:prstGeom>
          <a:gradFill rotWithShape="1">
            <a:gsLst>
              <a:gs pos="0">
                <a:srgbClr val="EC4899"/>
              </a:gs>
              <a:gs pos="100000">
                <a:srgbClr val="FB718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05287" y="219456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1600200"/>
            <a:ext cx="18288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★ 에이스!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1783080"/>
            <a:ext cx="5120640" cy="1325880"/>
          </a:xfrm>
          <a:prstGeom prst="roundRect">
            <a:avLst>
              <a:gd name="adj" fmla="val 12413"/>
            </a:avLst>
          </a:prstGeom>
          <a:solidFill>
            <a:srgbClr val="1A1640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1828800"/>
            <a:ext cx="4754880" cy="12344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우리는 AI '아델'에게 일을 가르칩니다.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잘 시키고, 꼼꼼히 검수하면 에이스가 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지시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검수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4815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4815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하루 종일 반복하는 3단계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3383280" cy="3337560"/>
          </a:xfrm>
          <a:prstGeom prst="roundRect">
            <a:avLst>
              <a:gd name="adj" fmla="val 4931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0" y="2057400"/>
            <a:ext cx="822960" cy="8229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0574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33832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지시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30175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프롬프트 6요소로 시키기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301752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상황·목적·대상·요청·형식·주의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05072" y="3246120"/>
            <a:ext cx="329184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828800"/>
            <a:ext cx="3383280" cy="3337560"/>
          </a:xfrm>
          <a:prstGeom prst="roundRect">
            <a:avLst>
              <a:gd name="adj" fmla="val 4931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79" y="2057400"/>
            <a:ext cx="822960" cy="82296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79" y="20574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017520"/>
            <a:ext cx="33832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49039"/>
            <a:ext cx="30175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숫자·날짜·이름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43400"/>
            <a:ext cx="301752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AI는 자신 있게 틀립니다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45552" y="3246120"/>
            <a:ext cx="329184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1828800"/>
            <a:ext cx="3383280" cy="3337560"/>
          </a:xfrm>
          <a:prstGeom prst="roundRect">
            <a:avLst>
              <a:gd name="adj" fmla="val 4931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09760" y="2057400"/>
            <a:ext cx="822960" cy="8229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0574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017520"/>
            <a:ext cx="33832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749039"/>
            <a:ext cx="30175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프롬프트북에 모으기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343400"/>
            <a:ext cx="301752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내일 또 쓰는 나만의 자산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AI는 신입사원, 나는 팀장. 시키는 것도, 확인하는 것도, 책임지는 것도 나입니다.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 대결로 즐기는 하루: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점수판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3639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3639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게임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8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5669280" cy="4389120"/>
          </a:xfrm>
          <a:prstGeom prst="roundRect">
            <a:avLst>
              <a:gd name="adj" fmla="val 3750"/>
            </a:avLst>
          </a:prstGeom>
          <a:solidFill>
            <a:srgbClr val="1A1640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512064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팀 점수 얻는 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68880"/>
            <a:ext cx="5120640" cy="777240"/>
          </a:xfrm>
          <a:prstGeom prst="roundRect">
            <a:avLst>
              <a:gd name="adj" fmla="val 17647"/>
            </a:avLst>
          </a:prstGeom>
          <a:solidFill>
            <a:srgbClr val="2E2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542032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4203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468880"/>
            <a:ext cx="420624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미션 완료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83280"/>
            <a:ext cx="5120640" cy="777240"/>
          </a:xfrm>
          <a:prstGeom prst="roundRect">
            <a:avLst>
              <a:gd name="adj" fmla="val 17647"/>
            </a:avLst>
          </a:prstGeom>
          <a:solidFill>
            <a:srgbClr val="2E2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456432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643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+2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383280"/>
            <a:ext cx="420624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AI의 오류를 찾아내면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97680"/>
            <a:ext cx="5120640" cy="777240"/>
          </a:xfrm>
          <a:prstGeom prst="roundRect">
            <a:avLst>
              <a:gd name="adj" fmla="val 17647"/>
            </a:avLst>
          </a:prstGeom>
          <a:solidFill>
            <a:srgbClr val="2E2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370832"/>
            <a:ext cx="640080" cy="6400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7083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+3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297680"/>
            <a:ext cx="420624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이상값 헌터 1등 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212080"/>
            <a:ext cx="5120640" cy="777240"/>
          </a:xfrm>
          <a:prstGeom prst="roundRect">
            <a:avLst>
              <a:gd name="adj" fmla="val 17647"/>
            </a:avLst>
          </a:prstGeom>
          <a:solidFill>
            <a:srgbClr val="2E2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5285232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8523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+1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12080"/>
            <a:ext cx="420624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 회사 활용 아이디어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1783080"/>
            <a:ext cx="2514600" cy="1508760"/>
          </a:xfrm>
          <a:prstGeom prst="roundRect">
            <a:avLst>
              <a:gd name="adj" fmla="val 10909"/>
            </a:avLst>
          </a:prstGeom>
          <a:solidFill>
            <a:srgbClr val="1A1640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874519"/>
            <a:ext cx="25146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31720"/>
            <a:ext cx="25146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프롬프트 장인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2743200"/>
            <a:ext cx="23317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6요소를 가장 정확히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783080"/>
            <a:ext cx="2514600" cy="1508760"/>
          </a:xfrm>
          <a:prstGeom prst="roundRect">
            <a:avLst>
              <a:gd name="adj" fmla="val 10909"/>
            </a:avLst>
          </a:prstGeom>
          <a:solidFill>
            <a:srgbClr val="1A1640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874519"/>
            <a:ext cx="25146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331720"/>
            <a:ext cx="25146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검수왕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2743200"/>
            <a:ext cx="23317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오류를 가장 많이 찾은 사람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3429000"/>
            <a:ext cx="2514600" cy="1508760"/>
          </a:xfrm>
          <a:prstGeom prst="roundRect">
            <a:avLst>
              <a:gd name="adj" fmla="val 10909"/>
            </a:avLst>
          </a:prstGeom>
          <a:solidFill>
            <a:srgbClr val="1A1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520440"/>
            <a:ext cx="25146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977639"/>
            <a:ext cx="25146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아이디어상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79" y="4389120"/>
            <a:ext cx="23317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 아이디어 1등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3429000"/>
            <a:ext cx="2514600" cy="1508760"/>
          </a:xfrm>
          <a:prstGeom prst="roundRect">
            <a:avLst>
              <a:gd name="adj" fmla="val 10909"/>
            </a:avLst>
          </a:prstGeom>
          <a:solidFill>
            <a:srgbClr val="1A164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3520440"/>
            <a:ext cx="25146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977639"/>
            <a:ext cx="25146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도우미상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19" y="4389120"/>
            <a:ext cx="23317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서포터 중 최고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5120640"/>
            <a:ext cx="5120640" cy="1051560"/>
          </a:xfrm>
          <a:prstGeom prst="roundRect">
            <a:avLst>
              <a:gd name="adj" fmla="val 15652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20840" y="5349240"/>
            <a:ext cx="594360" cy="59436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5349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" name="Oval 47"/>
          <p:cNvSpPr/>
          <p:nvPr/>
        </p:nvSpPr>
        <p:spPr>
          <a:xfrm>
            <a:off x="7360920" y="534924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60920" y="5349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5120640"/>
            <a:ext cx="3474720" cy="10515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막힘 신호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빨강 = 도와주세요 · 초록 = 완료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오늘은 </a:t>
            </a: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100% 무료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갑니다: 4가지 규칙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7830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7830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도구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9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5440680" cy="2011680"/>
          </a:xfrm>
          <a:prstGeom prst="roundRect">
            <a:avLst>
              <a:gd name="adj" fmla="val 8181"/>
            </a:avLst>
          </a:prstGeom>
          <a:solidFill>
            <a:srgbClr val="1A1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1965960"/>
            <a:ext cx="42062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듀얼 엔진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788920"/>
            <a:ext cx="493776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ChatGPT와 Gemini 둘 다 로그인.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한쪽 한도가 차면 다른 쪽으로 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440680" cy="2011680"/>
          </a:xfrm>
          <a:prstGeom prst="roundRect">
            <a:avLst>
              <a:gd name="adj" fmla="val 8181"/>
            </a:avLst>
          </a:prstGeom>
          <a:solidFill>
            <a:srgbClr val="1A1640"/>
          </a:solidFill>
          <a:ln w="1905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2011680"/>
            <a:ext cx="685800" cy="68580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1965960"/>
            <a:ext cx="42062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붙여넣기 우선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493776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ChatGPT 무료는 파일 업로드가 하루 3개.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자료는 텍스트로 붙여넣습니다.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5440680" cy="2011680"/>
          </a:xfrm>
          <a:prstGeom prst="roundRect">
            <a:avLst>
              <a:gd name="adj" fmla="val 8181"/>
            </a:avLst>
          </a:prstGeom>
          <a:solidFill>
            <a:srgbClr val="1A1640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160520"/>
            <a:ext cx="685800" cy="6858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114800"/>
            <a:ext cx="42062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무료 도구로 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937760"/>
            <a:ext cx="493776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이미지는 Gemini, 글자·편집은 구글 슬라이드,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앱과 보고서는 Gemini Canvas로.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931920"/>
            <a:ext cx="5440680" cy="2011680"/>
          </a:xfrm>
          <a:prstGeom prst="roundRect">
            <a:avLst>
              <a:gd name="adj" fmla="val 8181"/>
            </a:avLst>
          </a:prstGeom>
          <a:solidFill>
            <a:srgbClr val="1A164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4160520"/>
            <a:ext cx="685800" cy="6858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605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114800"/>
            <a:ext cx="42062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개인 구글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937760"/>
            <a:ext cx="493776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 Gmail로 로그인하세요.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회사·학교 계정은 일부 기능이 막힐 수 있어요.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※ 무료 한도는 자주 바뀝니다. 이 슬라이드는 2026.10.29 확인 기준이며, 강의 전에 다시 확인합니다.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로그인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미션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5분 안에 모두 체크!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3512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3512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시작 전 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10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7406640" cy="768096"/>
          </a:xfrm>
          <a:prstGeom prst="roundRect">
            <a:avLst>
              <a:gd name="adj" fmla="val 19047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938528"/>
            <a:ext cx="457200" cy="4572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783080"/>
            <a:ext cx="420624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ChatGPT 무료 로그인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783080"/>
            <a:ext cx="256032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chatgpt.com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70048"/>
            <a:ext cx="7406640" cy="768096"/>
          </a:xfrm>
          <a:prstGeom prst="roundRect">
            <a:avLst>
              <a:gd name="adj" fmla="val 19047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825496"/>
            <a:ext cx="457200" cy="4572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670048"/>
            <a:ext cx="420624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 로그인 (개인 Gmail)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670048"/>
            <a:ext cx="256032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gemini.google.com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57015"/>
            <a:ext cx="7406640" cy="768096"/>
          </a:xfrm>
          <a:prstGeom prst="roundRect">
            <a:avLst>
              <a:gd name="adj" fmla="val 19047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712463"/>
            <a:ext cx="457200" cy="4572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557015"/>
            <a:ext cx="420624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구글 슬라이드 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557015"/>
            <a:ext cx="256032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slides.google.com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43984"/>
            <a:ext cx="7406640" cy="768096"/>
          </a:xfrm>
          <a:prstGeom prst="roundRect">
            <a:avLst>
              <a:gd name="adj" fmla="val 19047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599432"/>
            <a:ext cx="457200" cy="4572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4443984"/>
            <a:ext cx="420624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구글 시트 열기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443984"/>
            <a:ext cx="256032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sheets.google.com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30952"/>
            <a:ext cx="7406640" cy="768096"/>
          </a:xfrm>
          <a:prstGeom prst="roundRect">
            <a:avLst>
              <a:gd name="adj" fmla="val 19047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5486400"/>
            <a:ext cx="457200" cy="4572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5330952"/>
            <a:ext cx="420624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메모 1개 준비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5330952"/>
            <a:ext cx="2560320" cy="7680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개인정보·기밀은 지우고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1783080"/>
            <a:ext cx="3200400" cy="4297680"/>
          </a:xfrm>
          <a:prstGeom prst="roundRect">
            <a:avLst>
              <a:gd name="adj" fmla="val 8571"/>
            </a:avLst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3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01168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시간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651760"/>
            <a:ext cx="3200400" cy="1463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297680"/>
            <a:ext cx="2834640" cy="1463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 했으면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초록 스티커를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붙여주세요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sec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931920"/>
            <a:ext cx="7680960" cy="1280160"/>
          </a:xfrm>
        </p:spPr>
        <p:txBody>
          <a:bodyPr wrap="square" lIns="4572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시간여행 &amp; 입사식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</a:t>
            </a:r>
          </a:p>
        </p:txBody>
      </p:sp>
      <p:pic>
        <p:nvPicPr>
          <p:cNvPr id="6" name="Picture 5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004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14400"/>
            <a:ext cx="594360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583680" cy="50292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680960" cy="54864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70년의 AI 여행, 그리고 신입사원 아델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897880"/>
            <a:ext cx="239903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97880"/>
            <a:ext cx="239903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09:00 ~ 10:20 · 80분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29000" cy="4754880"/>
          </a:xfrm>
          <a:prstGeom prst="roundRect">
            <a:avLst>
              <a:gd name="adj" fmla="val 7466"/>
            </a:avLst>
          </a:prstGeom>
          <a:solidFill>
            <a:srgbClr val="0B0A1F">
              <a:alpha val="55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292608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이번 교시에 하는 일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192023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3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2879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시간여행 25분: 과거·현재·미래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288035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5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88920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이름 짓기 + 두 AI 비교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84047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7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4903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환각 잡기 + O/X 퀴즈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0" y="480059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80059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0915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 신호등 + 내 업무 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 / 81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0"/>
            <a:ext cx="7040880" cy="1188720"/>
          </a:xfrm>
        </p:spPr>
        <p:txBody>
          <a:bodyPr wrap="square" lIns="73152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70년의 여행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45720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710179" cy="347472"/>
          </a:xfrm>
          <a:prstGeom prst="roundRect">
            <a:avLst>
              <a:gd name="adj" fmla="val 50000"/>
            </a:avLst>
          </a:prstGeom>
          <a:solidFill>
            <a:srgbClr val="241E5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7101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1교시 · AI 시간여행 · 25분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48840"/>
            <a:ext cx="6949440" cy="1097280"/>
          </a:xfrm>
          <a:prstGeom prst="rect">
            <a:avLst/>
          </a:prstGeom>
          <a:noFill/>
        </p:spPr>
        <p:txBody>
          <a:bodyPr wrap="square" lIns="73152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97680"/>
            <a:ext cx="6858000" cy="960120"/>
          </a:xfrm>
          <a:prstGeom prst="rect">
            <a:avLst/>
          </a:prstGeom>
          <a:noFill/>
        </p:spPr>
        <p:txBody>
          <a:bodyPr wrap="square" lIns="73152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25분 만에 과거에서 미래까지 다녀옵니다.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마지막엔 "와!" 소리가 나올 거예요.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4864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23444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4864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54864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5486400"/>
            <a:ext cx="123444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현재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4864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54864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5486400"/>
            <a:ext cx="123444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미래</a:t>
            </a:r>
          </a:p>
        </p:txBody>
      </p:sp>
      <p:pic>
        <p:nvPicPr>
          <p:cNvPr id="18" name="Picture 17" descr="car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02920"/>
            <a:ext cx="3941077" cy="58521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178040" y="1463040"/>
            <a:ext cx="2589530" cy="4114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463040"/>
            <a:ext cx="2589530" cy="41148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깜짝 놀랄 이야기가 가득!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4480560"/>
            <a:ext cx="1743710" cy="438912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480560"/>
            <a:ext cx="1743710" cy="43891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출발합니다!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깜짝 퀴즈!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진짜일까요?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손으로 O 또는 X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13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783080"/>
            <a:ext cx="758952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연구가 노벨상을 받은 적이 있다.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0" y="1938528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9385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17" name="Oval 16"/>
          <p:cNvSpPr/>
          <p:nvPr/>
        </p:nvSpPr>
        <p:spPr>
          <a:xfrm>
            <a:off x="10698480" y="1938528"/>
            <a:ext cx="658368" cy="65836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19385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80360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063240"/>
            <a:ext cx="594360" cy="5943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880360"/>
            <a:ext cx="758952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바둑 세계 최정상급 기사를 이긴 지 10년이 지났다.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0" y="3035808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03580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25" name="Oval 24"/>
          <p:cNvSpPr/>
          <p:nvPr/>
        </p:nvSpPr>
        <p:spPr>
          <a:xfrm>
            <a:off x="10698480" y="3035808"/>
            <a:ext cx="658368" cy="65836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0" y="303580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77639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160520"/>
            <a:ext cx="594360" cy="5943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977639"/>
            <a:ext cx="758952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ChatGPT가 세상에 나온 지 5년이 안 됐다.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0" y="4133087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4133087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33" name="Oval 32"/>
          <p:cNvSpPr/>
          <p:nvPr/>
        </p:nvSpPr>
        <p:spPr>
          <a:xfrm>
            <a:off x="10698480" y="4133087"/>
            <a:ext cx="658368" cy="65836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0" y="4133087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5257800"/>
            <a:ext cx="594360" cy="5943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578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074920"/>
            <a:ext cx="758952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'인공지능'이라는 말은 1980년대에 처음 생겼다.</a:t>
            </a:r>
          </a:p>
        </p:txBody>
      </p:sp>
      <p:sp>
        <p:nvSpPr>
          <p:cNvPr id="39" name="Oval 38"/>
          <p:cNvSpPr/>
          <p:nvPr/>
        </p:nvSpPr>
        <p:spPr>
          <a:xfrm>
            <a:off x="9601200" y="5230368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52303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41" name="Oval 40"/>
          <p:cNvSpPr/>
          <p:nvPr/>
        </p:nvSpPr>
        <p:spPr>
          <a:xfrm>
            <a:off x="10698480" y="5230368"/>
            <a:ext cx="658368" cy="65836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98480" y="52303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정답! </a:t>
            </a: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놀라셨죠?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14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783080"/>
            <a:ext cx="42062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연구가 노벨상을 받은 적이 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1938528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9385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83080"/>
            <a:ext cx="48920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2024년 노벨 물리학상과 화학상이 AI 연구에 돌아갔어요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80360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3063240"/>
            <a:ext cx="594360" cy="5943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880360"/>
            <a:ext cx="42062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바둑 세계 최정상급 기사를 이긴 지 10년이 지났다.</a:t>
            </a:r>
          </a:p>
        </p:txBody>
      </p:sp>
      <p:sp>
        <p:nvSpPr>
          <p:cNvPr id="22" name="Oval 21"/>
          <p:cNvSpPr/>
          <p:nvPr/>
        </p:nvSpPr>
        <p:spPr>
          <a:xfrm>
            <a:off x="5852160" y="3035808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03580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80360"/>
            <a:ext cx="48920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2016년 3월, 알파고가 이세돌 9단에게 4:1 승리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160520"/>
            <a:ext cx="594360" cy="5943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605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977639"/>
            <a:ext cx="42062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ChatGPT가 세상에 나온 지 5년이 안 됐다.</a:t>
            </a:r>
          </a:p>
        </p:txBody>
      </p:sp>
      <p:sp>
        <p:nvSpPr>
          <p:cNvPr id="29" name="Oval 28"/>
          <p:cNvSpPr/>
          <p:nvPr/>
        </p:nvSpPr>
        <p:spPr>
          <a:xfrm>
            <a:off x="5852160" y="4133087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4133087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977639"/>
            <a:ext cx="48920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2022년 11월 30일 공개, 이제 약 4년이 됐어요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5257800"/>
            <a:ext cx="594360" cy="5943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578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074920"/>
            <a:ext cx="42062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'인공지능'이라는 말은 1980년대에 처음 생겼다.</a:t>
            </a:r>
          </a:p>
        </p:txBody>
      </p:sp>
      <p:sp>
        <p:nvSpPr>
          <p:cNvPr id="36" name="Oval 35"/>
          <p:cNvSpPr/>
          <p:nvPr/>
        </p:nvSpPr>
        <p:spPr>
          <a:xfrm>
            <a:off x="5852160" y="5230368"/>
            <a:ext cx="658368" cy="65836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52303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74920"/>
            <a:ext cx="48920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1956년 다트머스 연구회에서 처음 쓰인 말이에요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1950~60년대: AI의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탄생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15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456432" cy="3520440"/>
          </a:xfrm>
          <a:prstGeom prst="roundRect">
            <a:avLst>
              <a:gd name="adj" fmla="val 4761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456432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3200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튜링의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01752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"기계도 생각할 수 있을까?"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기계의 지능을 가려내는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튜링 테스트를 제안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41648" y="3200400"/>
            <a:ext cx="274320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0831" y="1783080"/>
            <a:ext cx="3456432" cy="3520440"/>
          </a:xfrm>
          <a:prstGeom prst="roundRect">
            <a:avLst>
              <a:gd name="adj" fmla="val 4761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1" y="1828800"/>
            <a:ext cx="3456432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1956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880360"/>
            <a:ext cx="3200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인공지능의 탄생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3474720"/>
            <a:ext cx="301752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다트머스 여름 연구회에서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"인공지능(AI)"이라는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이름이 처음 등장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63840" y="3200400"/>
            <a:ext cx="274320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3023" y="1783080"/>
            <a:ext cx="3456432" cy="3520440"/>
          </a:xfrm>
          <a:prstGeom prst="roundRect">
            <a:avLst>
              <a:gd name="adj" fmla="val 4761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1828800"/>
            <a:ext cx="3456432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1966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2880360"/>
            <a:ext cx="3200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최초의 챗봇 ELIZA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474720"/>
            <a:ext cx="301752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사람과 글로 대화하는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프로그램의 조상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(미국 MIT)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70년 전에도 같은 질문을 했습니다: "기계가 생각할 수 있을까?"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AI의 </a:t>
            </a:r>
            <a:r>
              <a:rPr sz="3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봄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겨울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기대와 실망의 롤러코스터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16 / 81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5257800"/>
            <a:ext cx="10698480" cy="0"/>
          </a:xfrm>
          <a:prstGeom prst="line">
            <a:avLst/>
          </a:prstGeom>
          <a:ln w="25400">
            <a:solidFill>
              <a:srgbClr val="4A4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5276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2806" y="5276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1970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4132" y="5276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1990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5458" y="5276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5276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2026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22960" y="3246120"/>
            <a:ext cx="837397" cy="1709928"/>
          </a:xfrm>
          <a:prstGeom prst="line">
            <a:avLst/>
          </a:prstGeom>
          <a:ln w="635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660357" y="3044952"/>
            <a:ext cx="1256097" cy="201168"/>
          </a:xfrm>
          <a:prstGeom prst="line">
            <a:avLst/>
          </a:prstGeom>
          <a:ln w="635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16454" y="3044952"/>
            <a:ext cx="1256097" cy="1760220"/>
          </a:xfrm>
          <a:prstGeom prst="line">
            <a:avLst/>
          </a:prstGeom>
          <a:ln w="635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172551" y="4000500"/>
            <a:ext cx="1116531" cy="804672"/>
          </a:xfrm>
          <a:prstGeom prst="line">
            <a:avLst/>
          </a:prstGeom>
          <a:ln w="635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89082" y="3447288"/>
            <a:ext cx="697831" cy="553212"/>
          </a:xfrm>
          <a:prstGeom prst="line">
            <a:avLst/>
          </a:prstGeom>
          <a:ln w="635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6913" y="3447288"/>
            <a:ext cx="837398" cy="1408176"/>
          </a:xfrm>
          <a:prstGeom prst="line">
            <a:avLst/>
          </a:prstGeom>
          <a:ln w="635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24311" y="4503420"/>
            <a:ext cx="1256097" cy="352044"/>
          </a:xfrm>
          <a:prstGeom prst="line">
            <a:avLst/>
          </a:prstGeom>
          <a:ln w="635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080408" y="3749039"/>
            <a:ext cx="1395663" cy="754381"/>
          </a:xfrm>
          <a:prstGeom prst="line">
            <a:avLst/>
          </a:prstGeom>
          <a:ln w="635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476071" y="3346704"/>
            <a:ext cx="697832" cy="402335"/>
          </a:xfrm>
          <a:prstGeom prst="line">
            <a:avLst/>
          </a:prstGeom>
          <a:ln w="635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173903" y="2868930"/>
            <a:ext cx="697831" cy="477774"/>
          </a:xfrm>
          <a:prstGeom prst="line">
            <a:avLst/>
          </a:prstGeom>
          <a:ln w="635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871734" y="2743200"/>
            <a:ext cx="558266" cy="125730"/>
          </a:xfrm>
          <a:prstGeom prst="line">
            <a:avLst/>
          </a:prstGeom>
          <a:ln w="635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568917" y="3154679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83015" y="2514600"/>
            <a:ext cx="11272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3015" y="2514600"/>
            <a:ext cx="1127252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1956 첫 봄</a:t>
            </a:r>
          </a:p>
        </p:txBody>
      </p:sp>
      <p:sp>
        <p:nvSpPr>
          <p:cNvPr id="31" name="Oval 30"/>
          <p:cNvSpPr/>
          <p:nvPr/>
        </p:nvSpPr>
        <p:spPr>
          <a:xfrm>
            <a:off x="4081111" y="4713732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99934" y="5006340"/>
            <a:ext cx="1717802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9934" y="5006340"/>
            <a:ext cx="1717802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1970년대 1차 겨울</a:t>
            </a:r>
          </a:p>
        </p:txBody>
      </p:sp>
      <p:sp>
        <p:nvSpPr>
          <p:cNvPr id="34" name="Oval 33"/>
          <p:cNvSpPr/>
          <p:nvPr/>
        </p:nvSpPr>
        <p:spPr>
          <a:xfrm>
            <a:off x="5895473" y="3355848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03146" y="2715768"/>
            <a:ext cx="2340101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3146" y="2715768"/>
            <a:ext cx="2340101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1980년대 전문가 시스템 붐</a:t>
            </a:r>
          </a:p>
        </p:txBody>
      </p:sp>
      <p:sp>
        <p:nvSpPr>
          <p:cNvPr id="37" name="Oval 36"/>
          <p:cNvSpPr/>
          <p:nvPr/>
        </p:nvSpPr>
        <p:spPr>
          <a:xfrm>
            <a:off x="6732871" y="4764024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40569" y="5056631"/>
            <a:ext cx="1940052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40569" y="5056631"/>
            <a:ext cx="1940052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1990년 전후 2차 겨울</a:t>
            </a:r>
          </a:p>
        </p:txBody>
      </p:sp>
      <p:sp>
        <p:nvSpPr>
          <p:cNvPr id="40" name="Oval 39"/>
          <p:cNvSpPr/>
          <p:nvPr/>
        </p:nvSpPr>
        <p:spPr>
          <a:xfrm>
            <a:off x="9384631" y="3657599"/>
            <a:ext cx="182880" cy="1828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51079" y="3017520"/>
            <a:ext cx="1622552" cy="310896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1079" y="3017520"/>
            <a:ext cx="1622552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2012 딥러닝 도약</a:t>
            </a:r>
          </a:p>
        </p:txBody>
      </p:sp>
      <p:sp>
        <p:nvSpPr>
          <p:cNvPr id="43" name="Oval 42"/>
          <p:cNvSpPr/>
          <p:nvPr/>
        </p:nvSpPr>
        <p:spPr>
          <a:xfrm>
            <a:off x="10780294" y="2777490"/>
            <a:ext cx="182880" cy="1828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148342" y="2091690"/>
            <a:ext cx="1419352" cy="310896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8342" y="2091690"/>
            <a:ext cx="1419352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2022 ChatGPT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실망의 겨울에도 기술은 조용히 쌓였습니다  ※ 분위기를 보여주는 개념도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사람을 이긴 AI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3연타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17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971800" cy="3749039"/>
          </a:xfrm>
          <a:prstGeom prst="roundRect">
            <a:avLst>
              <a:gd name="adj" fmla="val 5538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97180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29718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딥블루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60604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체스 세계챔피언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카스파로프를 이기다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1783080"/>
            <a:ext cx="2971800" cy="3749039"/>
          </a:xfrm>
          <a:prstGeom prst="roundRect">
            <a:avLst>
              <a:gd name="adj" fmla="val 5538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828800"/>
            <a:ext cx="297180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2011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697480"/>
            <a:ext cx="29718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왓슨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383280"/>
            <a:ext cx="260604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미국 퀴즈쇼 "제퍼디!"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인간 챔피언을 이기다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783080"/>
            <a:ext cx="4736592" cy="3749039"/>
          </a:xfrm>
          <a:prstGeom prst="roundRect">
            <a:avLst>
              <a:gd name="adj" fmla="val 6097"/>
            </a:avLst>
          </a:prstGeom>
          <a:gradFill rotWithShape="1">
            <a:gsLst>
              <a:gs pos="0">
                <a:srgbClr val="EC4899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828800"/>
            <a:ext cx="4736592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2016  알파고 vs 이세돌 9단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331720"/>
            <a:ext cx="4736592" cy="182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: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114800"/>
            <a:ext cx="43891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서울에서 열린 세기의 대결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바둑에서도 AI가 이겼습니다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30000"/>
            </a:avLst>
          </a:prstGeom>
          <a:solidFill>
            <a:srgbClr val="241E5A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이때까지의 AI는 한 가지 일만 잘하는 "전문가 AI"였습니다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말을 알아듣는 AI의 등장: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2017 → 2022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18 / 81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2834640"/>
            <a:ext cx="10058400" cy="0"/>
          </a:xfrm>
          <a:prstGeom prst="line">
            <a:avLst/>
          </a:prstGeom>
          <a:ln w="50800">
            <a:solidFill>
              <a:srgbClr val="4A4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80160" y="251460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21031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2012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20116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딥러닝 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92024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이미지 인식에서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압도적 성능</a:t>
            </a:r>
          </a:p>
        </p:txBody>
      </p:sp>
      <p:sp>
        <p:nvSpPr>
          <p:cNvPr id="18" name="Oval 17"/>
          <p:cNvSpPr/>
          <p:nvPr/>
        </p:nvSpPr>
        <p:spPr>
          <a:xfrm>
            <a:off x="3538728" y="251460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2514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07208" y="333756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7208" y="3383280"/>
            <a:ext cx="21031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886200"/>
            <a:ext cx="20116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트랜스포머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4434840"/>
            <a:ext cx="192024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지금 AI의 뼈대가 되는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구조 발표</a:t>
            </a:r>
          </a:p>
        </p:txBody>
      </p:sp>
      <p:sp>
        <p:nvSpPr>
          <p:cNvPr id="24" name="Oval 23"/>
          <p:cNvSpPr/>
          <p:nvPr/>
        </p:nvSpPr>
        <p:spPr>
          <a:xfrm>
            <a:off x="5797296" y="251460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2514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5776" y="333756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6" y="3383280"/>
            <a:ext cx="21031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1496" y="3886200"/>
            <a:ext cx="20116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GPT-3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7216" y="4434840"/>
            <a:ext cx="192024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거대 언어 모델이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주목받다</a:t>
            </a:r>
          </a:p>
        </p:txBody>
      </p:sp>
      <p:sp>
        <p:nvSpPr>
          <p:cNvPr id="30" name="Oval 29"/>
          <p:cNvSpPr/>
          <p:nvPr/>
        </p:nvSpPr>
        <p:spPr>
          <a:xfrm>
            <a:off x="8055864" y="251460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55864" y="2514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24344" y="333756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444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24344" y="3383280"/>
            <a:ext cx="21031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2022.11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3886200"/>
            <a:ext cx="20116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ChatGPT 공개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3" y="4434840"/>
            <a:ext cx="192024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누구나 말로 대화하는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AI가 등장</a:t>
            </a:r>
          </a:p>
        </p:txBody>
      </p:sp>
      <p:sp>
        <p:nvSpPr>
          <p:cNvPr id="36" name="Oval 35"/>
          <p:cNvSpPr/>
          <p:nvPr/>
        </p:nvSpPr>
        <p:spPr>
          <a:xfrm>
            <a:off x="10314432" y="2514600"/>
            <a:ext cx="640080" cy="6400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14432" y="2514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82912" y="333756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82912" y="3383280"/>
            <a:ext cx="21031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2023~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8632" y="3886200"/>
            <a:ext cx="20116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이미지·음성·영상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4352" y="4434840"/>
            <a:ext cx="192024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글을 넘어 보고 듣고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그리는 AI로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흐름이 오늘 우리가 쓰는 ChatGPT와 Gemini의 뿌리입니다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속도, 상상이 되시나요? </a:t>
            </a:r>
            <a:r>
              <a:rPr sz="3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숫자로 보는 충격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19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5440680" cy="3931920"/>
          </a:xfrm>
          <a:prstGeom prst="roundRect">
            <a:avLst>
              <a:gd name="adj" fmla="val 4186"/>
            </a:avLst>
          </a:prstGeom>
          <a:solidFill>
            <a:srgbClr val="1A1640"/>
          </a:solidFill>
          <a:ln w="381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54406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 후 2개월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4068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1억 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749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월간 이용자 (분석기관 추정, 2023.2 보도)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당시 역대 가장 빠르게 성장한 앱으로 평가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783080"/>
            <a:ext cx="5440680" cy="3931920"/>
          </a:xfrm>
          <a:prstGeom prst="roundRect">
            <a:avLst>
              <a:gd name="adj" fmla="val 4186"/>
            </a:avLst>
          </a:prstGeom>
          <a:solidFill>
            <a:srgbClr val="1A1640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874519"/>
            <a:ext cx="54406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 후 약 4년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468880"/>
            <a:ext cx="544068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10억 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206240"/>
            <a:ext cx="50749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주간 이용자 돌파 (OpenAI 발표, 2026.8 보도)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전 세계 사람들이 매주 쓰고 있어요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출처: The Guardian(2023.2.2), TechCrunch(2026.8.6)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노벨상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받았다: 2024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20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5394960" cy="3749039"/>
          </a:xfrm>
          <a:prstGeom prst="roundRect">
            <a:avLst>
              <a:gd name="adj" fmla="val 4390"/>
            </a:avLst>
          </a:prstGeom>
          <a:solidFill>
            <a:srgbClr val="1A1640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011680"/>
            <a:ext cx="914400" cy="91440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0116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011680"/>
            <a:ext cx="38404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2024 노벨 물리학상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514600"/>
            <a:ext cx="3840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홉필드 · 힌턴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91840"/>
            <a:ext cx="4663440" cy="2103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인공신경망으로 하는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기계학습의 토대가 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발견과 발명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783080"/>
            <a:ext cx="5394960" cy="3749039"/>
          </a:xfrm>
          <a:prstGeom prst="roundRect">
            <a:avLst>
              <a:gd name="adj" fmla="val 4390"/>
            </a:avLst>
          </a:prstGeom>
          <a:solidFill>
            <a:srgbClr val="1A1640"/>
          </a:solidFill>
          <a:ln w="381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9672" y="2011680"/>
            <a:ext cx="914400" cy="91440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0116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2011680"/>
            <a:ext cx="38404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2024 노벨 화학상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514600"/>
            <a:ext cx="3840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하사비스 · 점퍼 · 베이커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291840"/>
            <a:ext cx="4663440" cy="2103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 AlphaFold로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단백질 구조 예측 (약 2억 개)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단백질 설계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AI는 이제 과학의 최고 영예를 받는 기술입니다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벌써 내 삶 속에 들어온 AI: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오늘 아침에 몇 번 만났나요?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21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2670048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874519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828800"/>
            <a:ext cx="1920240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길찾기 내비게이션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23317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실시간 교통 예측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737360"/>
            <a:ext cx="2670048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93008" y="1874519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187451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1828800"/>
            <a:ext cx="1920240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휴대폰 얼굴·지문 잠금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651760"/>
            <a:ext cx="23317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사람을 알아보는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1737360"/>
            <a:ext cx="2670048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0216" y="1874519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187451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5" y="1828800"/>
            <a:ext cx="1920240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번역·통역 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651760"/>
            <a:ext cx="23317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외국어 장벽을 낮춰요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3" y="1737360"/>
            <a:ext cx="2670048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6063" y="1828800"/>
            <a:ext cx="1920240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유튜브·넷플릭스 추천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2651760"/>
            <a:ext cx="23317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취향을 학습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520439"/>
            <a:ext cx="2670048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3657599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65759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611879"/>
            <a:ext cx="1920240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스팸 메일·문자 차단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434840"/>
            <a:ext cx="23317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나쁜 메시지를 걸러내요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3520439"/>
            <a:ext cx="2670048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3008" y="3657599"/>
            <a:ext cx="457200" cy="45720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365759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1648" y="3611879"/>
            <a:ext cx="1920240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음성 비서·AI 스피커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8728" y="4434840"/>
            <a:ext cx="23317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말로 시키는 기기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5" y="3520439"/>
            <a:ext cx="2670048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0216" y="3657599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0216" y="365759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8855" y="3611879"/>
            <a:ext cx="1920240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쇼핑 추천·고객센터 챗봇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434840"/>
            <a:ext cx="23317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24시간 응대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70263" y="3520439"/>
            <a:ext cx="2670048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07424" y="3657599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365759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6063" y="3611879"/>
            <a:ext cx="1920240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사진 보정·사진 검색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53143" y="4434840"/>
            <a:ext cx="23317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사진 속 내용을 이해</a:t>
            </a:r>
          </a:p>
        </p:txBody>
      </p:sp>
      <p:pic>
        <p:nvPicPr>
          <p:cNvPr id="51" name="Picture 50" descr="circ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49240"/>
            <a:ext cx="914400" cy="914400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1572768" y="5349240"/>
            <a:ext cx="10067544" cy="914400"/>
          </a:xfrm>
          <a:prstGeom prst="roundRect">
            <a:avLst>
              <a:gd name="adj" fmla="val 28000"/>
            </a:avLst>
          </a:prstGeom>
          <a:solidFill>
            <a:srgbClr val="241E5A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55648" y="5349240"/>
            <a:ext cx="9701784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아침부터 AI를 몇 번 만났는지 손가락으로 세어 보세요!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일터의 AI: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내 업무 시간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돌려받는 5가지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22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1920240"/>
            <a:ext cx="940054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20240"/>
            <a:ext cx="94005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2·3교시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77440"/>
            <a:ext cx="210312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192024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메일·공지·보고서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4114800"/>
            <a:ext cx="365760" cy="365760"/>
          </a:xfrm>
          <a:prstGeom prst="down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07208" y="178308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0128" y="1920240"/>
            <a:ext cx="800354" cy="32918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1920240"/>
            <a:ext cx="80035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2377440"/>
            <a:ext cx="210312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회의·요약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3017520"/>
            <a:ext cx="192024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 글 핵심 정리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675888" y="4114800"/>
            <a:ext cx="365760" cy="365760"/>
          </a:xfrm>
          <a:prstGeom prst="down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65776" y="178308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68696" y="1920240"/>
            <a:ext cx="800354" cy="329184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8696" y="1920240"/>
            <a:ext cx="80035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2377440"/>
            <a:ext cx="210312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3017520"/>
            <a:ext cx="192024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분석·시각화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934456" y="4114800"/>
            <a:ext cx="365760" cy="365760"/>
          </a:xfrm>
          <a:prstGeom prst="downArrow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24344" y="178308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27264" y="1920240"/>
            <a:ext cx="800354" cy="32918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7264" y="1920240"/>
            <a:ext cx="80035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6교시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4344" y="2377440"/>
            <a:ext cx="210312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홍보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5783" y="3017520"/>
            <a:ext cx="192024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카드뉴스·영상·음악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193023" y="4114800"/>
            <a:ext cx="365760" cy="365760"/>
          </a:xfrm>
          <a:prstGeom prst="downArrow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82912" y="178308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1920240"/>
            <a:ext cx="800354" cy="32918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1920240"/>
            <a:ext cx="80035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7교시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2377440"/>
            <a:ext cx="210312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앱·자동화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017520"/>
            <a:ext cx="192024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앱과 업무비서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10451592" y="4114800"/>
            <a:ext cx="365760" cy="365760"/>
          </a:xfrm>
          <a:prstGeom prst="down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4572000"/>
            <a:ext cx="11091672" cy="7315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572000"/>
            <a:ext cx="11091672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반복 업무가 줄고, 생각하고 결정하는 시간이 늘어납니다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21176"/>
            </a:avLst>
          </a:prstGeom>
          <a:solidFill>
            <a:srgbClr val="241E5A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여수 현장 활용 예:  </a:t>
            </a:r>
            <a:r>
              <a:rPr sz="15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제조·설비 점검 기록 정리</a:t>
            </a: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5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수산·유통 상품 소개문과 홍보 이미지</a:t>
            </a: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5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관광 후기 요약·번역·SNS 콘텐츠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앞으로의 AI: 전문가들이 꼽는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4가지 흐름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23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670048" cy="338328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233172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보고·듣고·말하는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2331720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글·그림·소리·영상을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한꺼번에 이해하고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783080"/>
            <a:ext cx="2670048" cy="338328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8728" y="192024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697480"/>
            <a:ext cx="233172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알아서 일하는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3703320"/>
            <a:ext cx="2331720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목표를 주면 여러 단계를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스스로 처리하는 에이전트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1783080"/>
            <a:ext cx="2670048" cy="338328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45936" y="192024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697480"/>
            <a:ext cx="233172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나를 아는 개인 비서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703320"/>
            <a:ext cx="2331720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자료와 일하는 방식에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맞춰 도와준다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3" y="1783080"/>
            <a:ext cx="2670048" cy="338328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53143" y="192024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2697480"/>
            <a:ext cx="233172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몸을 가진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3703320"/>
            <a:ext cx="2331720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로봇·기계와 결합해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일을 돕는다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21176"/>
            </a:avLst>
          </a:prstGeom>
          <a:solidFill>
            <a:srgbClr val="241E5A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※ 전문가들이 꼽는 방향이며, 속도와 모습은 달라질 수 있어요. 7교시에 "앱과 업무비서"로 맛보기!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시대의 일: 세계경제포럼의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2030 전망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24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670048" cy="2377440"/>
          </a:xfrm>
          <a:prstGeom prst="roundRect">
            <a:avLst>
              <a:gd name="adj" fmla="val 6923"/>
            </a:avLst>
          </a:prstGeom>
          <a:solidFill>
            <a:srgbClr val="1A1640"/>
          </a:solidFill>
          <a:ln w="381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2670048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1.7억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2670048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새로 생길 일자리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783080"/>
            <a:ext cx="2670048" cy="2377440"/>
          </a:xfrm>
          <a:prstGeom prst="roundRect">
            <a:avLst>
              <a:gd name="adj" fmla="val 6923"/>
            </a:avLst>
          </a:prstGeom>
          <a:solidFill>
            <a:srgbClr val="1A1640"/>
          </a:solidFill>
          <a:ln w="381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874519"/>
            <a:ext cx="2670048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9,200만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3200400"/>
            <a:ext cx="2670048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사라질 일자리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783080"/>
            <a:ext cx="2670048" cy="2377440"/>
          </a:xfrm>
          <a:prstGeom prst="roundRect">
            <a:avLst>
              <a:gd name="adj" fmla="val 6923"/>
            </a:avLst>
          </a:prstGeom>
          <a:solidFill>
            <a:srgbClr val="1A1640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5" y="1874519"/>
            <a:ext cx="2670048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+7,800만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5" y="3200400"/>
            <a:ext cx="2670048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순증가 전망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1783080"/>
            <a:ext cx="2670048" cy="2377440"/>
          </a:xfrm>
          <a:prstGeom prst="roundRect">
            <a:avLst>
              <a:gd name="adj" fmla="val 6923"/>
            </a:avLst>
          </a:prstGeom>
          <a:solidFill>
            <a:srgbClr val="1A1640"/>
          </a:solidFill>
          <a:ln w="381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0263" y="1874519"/>
            <a:ext cx="2670048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3" y="3200400"/>
            <a:ext cx="2670048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바뀌는 직무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세계경제포럼(WEF) 『Future of Jobs Report 2025』 · 2025~2030 고용주 설문 기반 전망</a:t>
            </a:r>
          </a:p>
        </p:txBody>
      </p:sp>
      <p:pic>
        <p:nvPicPr>
          <p:cNvPr id="24" name="Picture 23" descr="circ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4754880"/>
            <a:ext cx="1371600" cy="13716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48640" y="4754880"/>
            <a:ext cx="9610344" cy="1371600"/>
          </a:xfrm>
          <a:prstGeom prst="roundRect">
            <a:avLst>
              <a:gd name="adj" fmla="val 18666"/>
            </a:avLst>
          </a:prstGeom>
          <a:solidFill>
            <a:srgbClr val="241E5A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9244584" cy="1371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일자리를 빼앗는다기보다, 일하는 방식을 바꿉니다. 내 일을 AI와 나누는 법을 배우면 됩니다!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우리나라는? </a:t>
            </a:r>
            <a:r>
              <a:rPr sz="3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AI 기본법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2026년 1월 시행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25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40"/>
            <a:ext cx="24688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2026.1.22 시행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3017520" cy="1645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한국 AI 기본법이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전면 시행되었어요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1" y="1783080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53712" y="192024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1920240"/>
            <a:ext cx="24688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투명성 의무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2743200"/>
            <a:ext cx="3017520" cy="1645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생성형 AI 사용 사실 고지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생성물 표시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3" y="1783080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75903" y="1920240"/>
            <a:ext cx="594360" cy="59436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3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1920240"/>
            <a:ext cx="24688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계도기간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2743200"/>
            <a:ext cx="3017520" cy="1645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과태료 등은 최소 1년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계도기간을 두기로 했어요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54880"/>
            <a:ext cx="11091672" cy="1463040"/>
          </a:xfrm>
          <a:prstGeom prst="roundRect">
            <a:avLst>
              <a:gd name="adj" fmla="val 11249"/>
            </a:avLst>
          </a:prstGeom>
          <a:solidFill>
            <a:srgbClr val="241E5A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54880"/>
            <a:ext cx="10607040" cy="1463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 회사 팁: 홍보물에 "AI로 제작" 표시하는 습관을 들이면 신뢰가 쌓입니다 (6교시).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※ 법적 의무는 주로 AI를 제공하는 사업자가 대상이에요. 우리 회사 적용 여부는 확인이 필요합니다.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과거 70년, 현재 4년차, 미래는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오늘 시작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897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897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AI 시간여행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26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A1640"/>
          </a:solidFill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3456432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1950~2011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3090672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연구실 속에서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70년의 준비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41648" y="2926080"/>
            <a:ext cx="274320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0831" y="1783080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A1640"/>
          </a:solidFill>
          <a:ln w="317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1" y="1874519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현재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2514600"/>
            <a:ext cx="3456432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2022~ 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108960"/>
            <a:ext cx="3090672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누구나 말로 시키는 AI가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일터에 들어왔다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63840" y="2926080"/>
            <a:ext cx="274320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3023" y="1783080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A1640"/>
          </a:solidFill>
          <a:ln w="3175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1874519"/>
            <a:ext cx="3456432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미래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2514600"/>
            <a:ext cx="3456432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앞으로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3" y="3108960"/>
            <a:ext cx="3090672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알아서 일하는 AI와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함께 일하는 시대</a:t>
            </a:r>
          </a:p>
        </p:txBody>
      </p:sp>
      <p:pic>
        <p:nvPicPr>
          <p:cNvPr id="25" name="Picture 24" descr="circ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846320"/>
            <a:ext cx="1280160" cy="128016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938528" y="4846320"/>
            <a:ext cx="9701784" cy="1280160"/>
          </a:xfrm>
          <a:prstGeom prst="roundRect">
            <a:avLst>
              <a:gd name="adj" fmla="val 20000"/>
            </a:avLst>
          </a:prstGeom>
          <a:solidFill>
            <a:srgbClr val="241E5A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21408" y="4846320"/>
            <a:ext cx="9336024" cy="12801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그럼 이제, 우리 일터에 입사한 AI 신입사원 "아델"을 만나볼까요?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검색은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찾는 것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AI는 </a:t>
            </a:r>
            <a:r>
              <a:rPr sz="3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만드는 것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입사식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27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5029200" cy="3337560"/>
          </a:xfrm>
          <a:prstGeom prst="roundRect">
            <a:avLst>
              <a:gd name="adj" fmla="val 4931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45720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검색 (네이버 · 구글)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4572000" cy="2468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정보를 </a:t>
            </a: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찾아주는</a:t>
            </a:r>
            <a:r>
              <a:rPr sz="2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도구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답은 링크 여러 개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예) 여수 맛집 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11112" y="1783080"/>
            <a:ext cx="5029200" cy="3337560"/>
          </a:xfrm>
          <a:prstGeom prst="roundRect">
            <a:avLst>
              <a:gd name="adj" fmla="val 4931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1874519"/>
            <a:ext cx="45720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생성형 AI (ChatGPT · Gemini)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2560320"/>
            <a:ext cx="4572000" cy="2468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상황에 맞게 </a:t>
            </a:r>
            <a:r>
              <a:rPr sz="21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만들어주는</a:t>
            </a:r>
            <a:r>
              <a:rPr sz="2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도구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답은 문장·표·이미지 초안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예) 거래처 사과 메일 초안</a:t>
            </a:r>
          </a:p>
        </p:txBody>
      </p:sp>
      <p:sp>
        <p:nvSpPr>
          <p:cNvPr id="17" name="Oval 16"/>
          <p:cNvSpPr/>
          <p:nvPr/>
        </p:nvSpPr>
        <p:spPr>
          <a:xfrm>
            <a:off x="5605272" y="2926080"/>
            <a:ext cx="978408" cy="978408"/>
          </a:xfrm>
          <a:prstGeom prst="ellipse">
            <a:avLst/>
          </a:prstGeom>
          <a:gradFill rotWithShape="1">
            <a:gsLst>
              <a:gs pos="0">
                <a:srgbClr val="FFD93B"/>
              </a:gs>
              <a:gs pos="100000">
                <a:srgbClr val="FB923C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2" y="2926080"/>
            <a:ext cx="978408" cy="9784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11091672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찾기는 검색, 만들기는 AI, 확인은 </a:t>
            </a:r>
            <a:r>
              <a:rPr sz="2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만날 AI 5종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한눈에 보기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입사식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28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670048" cy="402336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965960"/>
            <a:ext cx="778256" cy="32918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778256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2487168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ChatGPT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2331720" cy="2103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문서·메일·보고서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대화형 만능 비서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프로젝트로 업무비서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783080"/>
            <a:ext cx="2670048" cy="402336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8728" y="1965960"/>
            <a:ext cx="778256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965960"/>
            <a:ext cx="778256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514600"/>
            <a:ext cx="2487168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3566160"/>
            <a:ext cx="2331720" cy="2103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이미지 만들기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Canvas로 앱 제작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Gem으로 챗봇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1783080"/>
            <a:ext cx="2670048" cy="402336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1965960"/>
            <a:ext cx="778256" cy="32918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1965960"/>
            <a:ext cx="778256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5" y="2514600"/>
            <a:ext cx="2487168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Gemini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566160"/>
            <a:ext cx="2331720" cy="2103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자료만으로 요약·질문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(구 NotebookLM)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오디오 개요 시연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3" y="1783080"/>
            <a:ext cx="2670048" cy="402336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53143" y="1938528"/>
            <a:ext cx="778256" cy="329184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1938528"/>
            <a:ext cx="778256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참고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377440"/>
            <a:ext cx="242316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퍼플렉시티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2880360"/>
            <a:ext cx="242316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출처가 붙는 AI 검색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사실 확인용 보조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53143" y="3749039"/>
            <a:ext cx="2304289" cy="0"/>
          </a:xfrm>
          <a:prstGeom prst="line">
            <a:avLst/>
          </a:prstGeom>
          <a:ln w="19050">
            <a:solidFill>
              <a:srgbClr val="4A4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07424" y="3886200"/>
            <a:ext cx="242316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클로드 (Claude)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4389120"/>
            <a:ext cx="242316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자연스러운 글쓰기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 글 다듬기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오늘 실습은 ChatGPT + Gemini 두 개면 충분합니다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AI에게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짓고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기본 규칙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알려주기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입사식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29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474720" cy="2697480"/>
          </a:xfrm>
          <a:prstGeom prst="roundRect">
            <a:avLst>
              <a:gd name="adj" fmla="val 6101"/>
            </a:avLst>
          </a:prstGeom>
          <a:solidFill>
            <a:srgbClr val="1A1640"/>
          </a:solidFill>
          <a:ln w="1905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566928" cy="566928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1920240"/>
            <a:ext cx="256032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이름 짓기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310896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"앞으로 너를 [아델]이라고 부를게. 너는 우리 회사 신입 비서야."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41648" y="2926080"/>
            <a:ext cx="27432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783080"/>
            <a:ext cx="3474720" cy="2697480"/>
          </a:xfrm>
          <a:prstGeom prst="roundRect">
            <a:avLst>
              <a:gd name="adj" fmla="val 6101"/>
            </a:avLst>
          </a:prstGeom>
          <a:solidFill>
            <a:srgbClr val="1A1640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6280" y="1920240"/>
            <a:ext cx="566928" cy="56692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9202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920240"/>
            <a:ext cx="256032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ChatGPT 맞춤설정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697480"/>
            <a:ext cx="310896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→ 개인 설정 → 사용자 지정 안내에 기본 규칙 붙여넣기 (1,500자 이내)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36408" y="2926080"/>
            <a:ext cx="27432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783080"/>
            <a:ext cx="3474720" cy="2697480"/>
          </a:xfrm>
          <a:prstGeom prst="roundRect">
            <a:avLst>
              <a:gd name="adj" fmla="val 6101"/>
            </a:avLst>
          </a:prstGeom>
          <a:solidFill>
            <a:srgbClr val="1A1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0" y="192024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9202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1920240"/>
            <a:ext cx="256032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Gemini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97480"/>
            <a:ext cx="310896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대화의 첫 메시지에 같은 기본 규칙을 붙여넣기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11249"/>
            </a:avLst>
          </a:prstGeom>
          <a:solidFill>
            <a:srgbClr val="241E5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36576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AI의 기본 규칙 (R0)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303520"/>
            <a:ext cx="2551429" cy="36576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03520"/>
            <a:ext cx="2551429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결론 먼저, 이유는 짧게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5303520"/>
            <a:ext cx="2265679" cy="36576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303520"/>
            <a:ext cx="2265679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복사해 쓰는 형태로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24144"/>
            <a:ext cx="2608579" cy="36576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24144"/>
            <a:ext cx="2608579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없는 숫자는 '확인 필요'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5724144"/>
            <a:ext cx="2621279" cy="36576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724144"/>
            <a:ext cx="2621279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계산식을 함께 보여주기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질문, 다른 대답: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AI도 성격이 있어요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입사식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30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11091672" cy="1143000"/>
          </a:xfrm>
          <a:prstGeom prst="roundRect">
            <a:avLst>
              <a:gd name="adj" fmla="val 14399"/>
            </a:avLst>
          </a:prstGeom>
          <a:solidFill>
            <a:srgbClr val="241E5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37360"/>
            <a:ext cx="10515600" cy="11430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"우리 회사는 여수에서 [업종]을 하는 중소기업이야. 이번 달 신제품 출시 소식을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거래처 담당자에게 알리는 안내 문구를 3줄로 써줘."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5394960" cy="2377440"/>
          </a:xfrm>
          <a:prstGeom prst="roundRect">
            <a:avLst>
              <a:gd name="adj" fmla="val 6923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5394960" cy="457200"/>
          </a:xfrm>
          <a:prstGeom prst="roundRect">
            <a:avLst>
              <a:gd name="adj" fmla="val 4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ChatGPT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4754880" cy="237744"/>
          </a:xfrm>
          <a:prstGeom prst="roundRect">
            <a:avLst>
              <a:gd name="adj" fmla="val 46153"/>
            </a:avLst>
          </a:prstGeom>
          <a:solidFill>
            <a:srgbClr val="B4B8D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343400"/>
            <a:ext cx="4206240" cy="237744"/>
          </a:xfrm>
          <a:prstGeom prst="roundRect">
            <a:avLst>
              <a:gd name="adj" fmla="val 46153"/>
            </a:avLst>
          </a:prstGeom>
          <a:solidFill>
            <a:srgbClr val="B4B8D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846320"/>
            <a:ext cx="4572000" cy="237744"/>
          </a:xfrm>
          <a:prstGeom prst="roundRect">
            <a:avLst>
              <a:gd name="adj" fmla="val 46153"/>
            </a:avLst>
          </a:prstGeom>
          <a:solidFill>
            <a:srgbClr val="B4B8D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5352" y="3108960"/>
            <a:ext cx="5394960" cy="2377440"/>
          </a:xfrm>
          <a:prstGeom prst="roundRect">
            <a:avLst>
              <a:gd name="adj" fmla="val 6923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5352" y="3108960"/>
            <a:ext cx="5394960" cy="45720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108960"/>
            <a:ext cx="36576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Gemini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3840480"/>
            <a:ext cx="4754880" cy="237744"/>
          </a:xfrm>
          <a:prstGeom prst="roundRect">
            <a:avLst>
              <a:gd name="adj" fmla="val 46153"/>
            </a:avLst>
          </a:prstGeom>
          <a:solidFill>
            <a:srgbClr val="B4B8D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65392" y="4343400"/>
            <a:ext cx="4206240" cy="237744"/>
          </a:xfrm>
          <a:prstGeom prst="roundRect">
            <a:avLst>
              <a:gd name="adj" fmla="val 46153"/>
            </a:avLst>
          </a:prstGeom>
          <a:solidFill>
            <a:srgbClr val="B4B8D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65392" y="4846320"/>
            <a:ext cx="4572000" cy="237744"/>
          </a:xfrm>
          <a:prstGeom prst="roundRect">
            <a:avLst>
              <a:gd name="adj" fmla="val 46153"/>
            </a:avLst>
          </a:prstGeom>
          <a:solidFill>
            <a:srgbClr val="B4B8D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이렇게 비교하세요   </a:t>
            </a: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정확성</a:t>
            </a: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간결함</a:t>
            </a: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내 말투</a:t>
            </a: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→   우리 팀의 선택은?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AI는 자신 있게 </a:t>
            </a:r>
            <a:r>
              <a:rPr sz="34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틀립니다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환각 잡기 3종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입사식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31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547872" cy="3611880"/>
          </a:xfrm>
          <a:prstGeom prst="roundRect">
            <a:avLst>
              <a:gd name="adj" fmla="val 4639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65960"/>
            <a:ext cx="24688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가짜 전제 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34640"/>
            <a:ext cx="3108960" cy="1554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실제로 없는 행사의 수상 기업을 물어봅니다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72000"/>
            <a:ext cx="2420620" cy="42062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2420620" cy="42062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모른다고 답하면 합격!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1783080"/>
            <a:ext cx="3547872" cy="3611880"/>
          </a:xfrm>
          <a:prstGeom prst="roundRect">
            <a:avLst>
              <a:gd name="adj" fmla="val 4639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44568" y="1965960"/>
            <a:ext cx="640080" cy="6400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1965960"/>
            <a:ext cx="24688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출처 링크 클릭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834640"/>
            <a:ext cx="3108960" cy="1554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준 출처를 직접 눌러봅니다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4572000"/>
            <a:ext cx="1779270" cy="420624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4572000"/>
            <a:ext cx="1779270" cy="42062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열리는지 확인!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1783080"/>
            <a:ext cx="3547872" cy="3611880"/>
          </a:xfrm>
          <a:prstGeom prst="roundRect">
            <a:avLst>
              <a:gd name="adj" fmla="val 4639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11896" y="196596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1965960"/>
            <a:ext cx="24688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계산 검수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2834640"/>
            <a:ext cx="3108960" cy="1554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1,284,500 + 3,967,250 + 2,048,775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+ 7,512,330 + 915,640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11896" y="4572000"/>
            <a:ext cx="1918969" cy="42062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4572000"/>
            <a:ext cx="1918969" cy="42062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정답 15,728,495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EC4899"/>
              </a:gs>
              <a:gs pos="100000">
                <a:srgbClr val="FB718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중요한 숫자는 계산기·엑셀로 한 번 더 확인하세요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O / X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퀴즈 5문제: 손으로 O, X를 만드세요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입사식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32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828800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737360"/>
            <a:ext cx="822960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생성형 AI가 자신 있게 말하면 대부분 사실이다.</a:t>
            </a:r>
          </a:p>
        </p:txBody>
      </p:sp>
      <p:sp>
        <p:nvSpPr>
          <p:cNvPr id="15" name="Oval 14"/>
          <p:cNvSpPr/>
          <p:nvPr/>
        </p:nvSpPr>
        <p:spPr>
          <a:xfrm>
            <a:off x="9921240" y="1828800"/>
            <a:ext cx="603504" cy="6035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182880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17" name="Oval 16"/>
          <p:cNvSpPr/>
          <p:nvPr/>
        </p:nvSpPr>
        <p:spPr>
          <a:xfrm>
            <a:off x="10744200" y="1828800"/>
            <a:ext cx="603504" cy="6035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182880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24328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715768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71576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624328"/>
            <a:ext cx="822960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네이버·구글은 정보를 찾는 데, 생성형 AI는 초안을 만드는 데 강하다.</a:t>
            </a:r>
          </a:p>
        </p:txBody>
      </p:sp>
      <p:sp>
        <p:nvSpPr>
          <p:cNvPr id="23" name="Oval 22"/>
          <p:cNvSpPr/>
          <p:nvPr/>
        </p:nvSpPr>
        <p:spPr>
          <a:xfrm>
            <a:off x="9921240" y="2715768"/>
            <a:ext cx="603504" cy="6035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271576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25" name="Oval 24"/>
          <p:cNvSpPr/>
          <p:nvPr/>
        </p:nvSpPr>
        <p:spPr>
          <a:xfrm>
            <a:off x="10744200" y="2715768"/>
            <a:ext cx="603504" cy="6035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44200" y="271576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511296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602736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60273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511296"/>
            <a:ext cx="822960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 이름만 지우면 전화번호와 이메일은 AI에 넣어도 된다.</a:t>
            </a:r>
          </a:p>
        </p:txBody>
      </p:sp>
      <p:sp>
        <p:nvSpPr>
          <p:cNvPr id="31" name="Oval 30"/>
          <p:cNvSpPr/>
          <p:nvPr/>
        </p:nvSpPr>
        <p:spPr>
          <a:xfrm>
            <a:off x="9921240" y="3602736"/>
            <a:ext cx="603504" cy="6035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360273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33" name="Oval 32"/>
          <p:cNvSpPr/>
          <p:nvPr/>
        </p:nvSpPr>
        <p:spPr>
          <a:xfrm>
            <a:off x="10744200" y="3602736"/>
            <a:ext cx="603504" cy="6035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360273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398264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89704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897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398264"/>
            <a:ext cx="822960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쓴 이메일도 보내기 전에 날짜·이름·금액은 사람이 확인한다.</a:t>
            </a:r>
          </a:p>
        </p:txBody>
      </p:sp>
      <p:sp>
        <p:nvSpPr>
          <p:cNvPr id="39" name="Oval 38"/>
          <p:cNvSpPr/>
          <p:nvPr/>
        </p:nvSpPr>
        <p:spPr>
          <a:xfrm>
            <a:off x="9921240" y="4489704"/>
            <a:ext cx="603504" cy="6035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44897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41" name="Oval 40"/>
          <p:cNvSpPr/>
          <p:nvPr/>
        </p:nvSpPr>
        <p:spPr>
          <a:xfrm>
            <a:off x="10744200" y="4489704"/>
            <a:ext cx="603504" cy="6035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44200" y="44897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285231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5800" y="5376671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376671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285231"/>
            <a:ext cx="822960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넣어도 되는지 애매한 회사 자료는 일단 넣고 나중에 지우면 된다.</a:t>
            </a:r>
          </a:p>
        </p:txBody>
      </p:sp>
      <p:sp>
        <p:nvSpPr>
          <p:cNvPr id="47" name="Oval 46"/>
          <p:cNvSpPr/>
          <p:nvPr/>
        </p:nvSpPr>
        <p:spPr>
          <a:xfrm>
            <a:off x="9921240" y="5376671"/>
            <a:ext cx="603504" cy="6035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1240" y="5376671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49" name="Oval 48"/>
          <p:cNvSpPr/>
          <p:nvPr/>
        </p:nvSpPr>
        <p:spPr>
          <a:xfrm>
            <a:off x="10744200" y="5376671"/>
            <a:ext cx="603504" cy="6035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44200" y="5376671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 / X 퀴즈 </a:t>
            </a: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입사식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33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828800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737360"/>
            <a:ext cx="667512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생성형 AI가 자신 있게 말하면 대부분 사실이다.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0" y="1828800"/>
            <a:ext cx="603504" cy="6035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737360"/>
            <a:ext cx="260604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자신감과 사실은 별개입니다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24328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715768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1576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624328"/>
            <a:ext cx="667512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네이버·구글은 정보를 찾는 데, 생성형 AI는 초안을 만드는 데 강하다.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2715768"/>
            <a:ext cx="603504" cy="6035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71576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624328"/>
            <a:ext cx="260604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찾기는 검색, 만들기는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11296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3602736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0273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511296"/>
            <a:ext cx="667512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 이름만 지우면 전화번호와 이메일은 AI에 넣어도 된다.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0" y="3602736"/>
            <a:ext cx="603504" cy="6035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60273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511296"/>
            <a:ext cx="260604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전화번호·이메일도 개인정보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98264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4489704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4897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398264"/>
            <a:ext cx="667512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쓴 이메일도 보내기 전에 날짜·이름·금액은 사람이 확인한다.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0" y="4489704"/>
            <a:ext cx="603504" cy="6035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4897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398264"/>
            <a:ext cx="260604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최종 책임은 사람에게 있습니다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285231"/>
            <a:ext cx="11091672" cy="786384"/>
          </a:xfrm>
          <a:prstGeom prst="roundRect">
            <a:avLst>
              <a:gd name="adj" fmla="val 18604"/>
            </a:avLst>
          </a:prstGeom>
          <a:solidFill>
            <a:srgbClr val="1A1640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5376671"/>
            <a:ext cx="603504" cy="60350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376671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285231"/>
            <a:ext cx="667512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넣어도 되는지 애매한 회사 자료는 일단 넣고 나중에 지우면 된다.</a:t>
            </a:r>
          </a:p>
        </p:txBody>
      </p:sp>
      <p:sp>
        <p:nvSpPr>
          <p:cNvPr id="43" name="Oval 42"/>
          <p:cNvSpPr/>
          <p:nvPr/>
        </p:nvSpPr>
        <p:spPr>
          <a:xfrm>
            <a:off x="8229600" y="5376671"/>
            <a:ext cx="603504" cy="6035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5376671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285231"/>
            <a:ext cx="2606040" cy="7863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애매하면 넣지 않습니다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AI에 넣어도 될까?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안전 신호등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1교시 · 입사식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34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1371600" cy="3657600"/>
          </a:xfrm>
          <a:prstGeom prst="roundRect">
            <a:avLst>
              <a:gd name="adj" fmla="val 33333"/>
            </a:avLst>
          </a:prstGeom>
          <a:solidFill>
            <a:srgbClr val="0B0A1F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920240"/>
            <a:ext cx="1097280" cy="10972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090672"/>
            <a:ext cx="1097280" cy="10972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261104"/>
            <a:ext cx="1097280" cy="10972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68880" y="1783080"/>
            <a:ext cx="9144000" cy="1143000"/>
          </a:xfrm>
          <a:prstGeom prst="roundRect">
            <a:avLst>
              <a:gd name="adj" fmla="val 14399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8880" y="1947672"/>
            <a:ext cx="82296" cy="813816"/>
          </a:xfrm>
          <a:prstGeom prst="roundRect">
            <a:avLst>
              <a:gd name="adj" fmla="val 44444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828800"/>
            <a:ext cx="859536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빨강 · 절대 넣지 않기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350008"/>
            <a:ext cx="85953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주민등록번호 · 고객 개인정보 · 비밀번호 · 계약서 원문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044952"/>
            <a:ext cx="9144000" cy="1143000"/>
          </a:xfrm>
          <a:prstGeom prst="roundRect">
            <a:avLst>
              <a:gd name="adj" fmla="val 14399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68880" y="3209544"/>
            <a:ext cx="82296" cy="813816"/>
          </a:xfrm>
          <a:prstGeom prst="roundRect">
            <a:avLst>
              <a:gd name="adj" fmla="val 44444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3090672"/>
            <a:ext cx="859536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노랑 · 가리고 넣기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611880"/>
            <a:ext cx="85953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거래처명과 금액은 익명화(○○산업, 000원)해서 넣기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4306824"/>
            <a:ext cx="9144000" cy="1143000"/>
          </a:xfrm>
          <a:prstGeom prst="roundRect">
            <a:avLst>
              <a:gd name="adj" fmla="val 14399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68880" y="4471416"/>
            <a:ext cx="82296" cy="813816"/>
          </a:xfrm>
          <a:prstGeom prst="roundRect">
            <a:avLst>
              <a:gd name="adj" fmla="val 44444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352544"/>
            <a:ext cx="859536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초록 · 넣어도 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873752"/>
            <a:ext cx="85953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공개된 회사 소개 · 일반 지식 · 내가 쓴 초안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23560"/>
            <a:ext cx="10881360" cy="594360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623560"/>
            <a:ext cx="1088136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넣기 전 10초 체크:  개인정보? · 기밀? · 익명화했나? · 최종 책임은 나?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sec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931920"/>
            <a:ext cx="7680960" cy="1280160"/>
          </a:xfrm>
        </p:spPr>
        <p:txBody>
          <a:bodyPr wrap="square" lIns="4572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업무지시서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</a:t>
            </a:r>
          </a:p>
        </p:txBody>
      </p:sp>
      <p:pic>
        <p:nvPicPr>
          <p:cNvPr id="6" name="Picture 5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004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14400"/>
            <a:ext cx="594360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583680" cy="50292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680960" cy="54864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AI에게 잘 시키는 법: 프롬프트 6요소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897880"/>
            <a:ext cx="239903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97880"/>
            <a:ext cx="239903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10:30 ~ 11:15 · 45분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29000" cy="4754880"/>
          </a:xfrm>
          <a:prstGeom prst="roundRect">
            <a:avLst>
              <a:gd name="adj" fmla="val 7466"/>
            </a:avLst>
          </a:prstGeom>
          <a:solidFill>
            <a:srgbClr val="0B0A1F">
              <a:alpha val="55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292608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이번 교시에 하는 일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192023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3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2879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막연한 요청 vs 6요소 배틀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288035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5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88920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납품 지연 사과 메일 작성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84047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7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4903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고쳐 쓰기 3번 + 검토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0" y="480059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80059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0915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인터뷰 프롬프트 한 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35 / 81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일, 이렇게 달라집니다: </a:t>
            </a:r>
            <a:r>
              <a:rPr sz="34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Before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vs </a:t>
            </a: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After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2912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2912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2교시 · 업무지시서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36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5394960" cy="3749039"/>
          </a:xfrm>
          <a:prstGeom prst="roundRect">
            <a:avLst>
              <a:gd name="adj" fmla="val 4390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20240"/>
            <a:ext cx="2319020" cy="3657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2319020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Before · 막연한 요청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68880"/>
            <a:ext cx="4937760" cy="1143000"/>
          </a:xfrm>
          <a:prstGeom prst="roundRect">
            <a:avLst>
              <a:gd name="adj" fmla="val 12000"/>
            </a:avLst>
          </a:prstGeom>
          <a:solidFill>
            <a:srgbClr val="2E2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68880"/>
            <a:ext cx="4663440" cy="11430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거래처에 보낼 메일 써줘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154680" y="3657600"/>
            <a:ext cx="274320" cy="274320"/>
          </a:xfrm>
          <a:prstGeom prst="downArrow">
            <a:avLst/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05072"/>
            <a:ext cx="4937760" cy="1097280"/>
          </a:xfrm>
          <a:prstGeom prst="roundRect">
            <a:avLst>
              <a:gd name="adj" fmla="val 12500"/>
            </a:avLst>
          </a:prstGeom>
          <a:solidFill>
            <a:srgbClr val="0B0A1F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4663440" cy="10972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안녕하세요.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항상 감사드립니다.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좋은 하루 되세요.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38928"/>
            <a:ext cx="2665729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38928"/>
            <a:ext cx="2665729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누구에게? 무슨 일? 알 수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783080"/>
            <a:ext cx="5394960" cy="3749039"/>
          </a:xfrm>
          <a:prstGeom prst="roundRect">
            <a:avLst>
              <a:gd name="adj" fmla="val 4390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3952" y="1920240"/>
            <a:ext cx="2096869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920240"/>
            <a:ext cx="2096869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After · 6요소 요청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2468880"/>
            <a:ext cx="4937760" cy="1143000"/>
          </a:xfrm>
          <a:prstGeom prst="roundRect">
            <a:avLst>
              <a:gd name="adj" fmla="val 12000"/>
            </a:avLst>
          </a:prstGeom>
          <a:solidFill>
            <a:srgbClr val="2E2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2468880"/>
            <a:ext cx="4663440" cy="11430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[상황] 납품 3일 지연  [목적] 새 일정 안내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[대상] 구매 과장님  [형식] 6문장 이내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[주의] 없는 사실은 지어내지 않기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851392" y="3657600"/>
            <a:ext cx="274320" cy="274320"/>
          </a:xfrm>
          <a:prstGeom prst="downArrow">
            <a:avLst/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73952" y="4005072"/>
            <a:ext cx="4937760" cy="1097280"/>
          </a:xfrm>
          <a:prstGeom prst="roundRect">
            <a:avLst>
              <a:gd name="adj" fmla="val 12500"/>
            </a:avLst>
          </a:prstGeom>
          <a:solidFill>
            <a:srgbClr val="0B0A1F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4005072"/>
            <a:ext cx="4663440" cy="10972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제목: [안내] 납품 일정 변경 (11월 12일 목)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과장님, 포장재 입고가 늦어져 납품이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3일 지연되었습니다. 진심으로 사과드립니다.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3952" y="5138928"/>
            <a:ext cx="2125979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5138928"/>
            <a:ext cx="2125979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바로 보낼 수 있는 메일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69280"/>
            <a:ext cx="11091672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프롬프트 배틀: 옆 팀 결과를 보고 "바로 보낼 수 있는 쪽"에 손을 드세요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좋은 업무지시서의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6요소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2912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2912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2교시 · 업무지시서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37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4023360" cy="1280160"/>
          </a:xfrm>
          <a:prstGeom prst="roundRect">
            <a:avLst>
              <a:gd name="adj" fmla="val 12857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57400"/>
            <a:ext cx="731520" cy="7315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92807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423160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어떤 일이 벌어졌나?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2423160"/>
            <a:ext cx="457200" cy="1600200"/>
          </a:xfrm>
          <a:prstGeom prst="line">
            <a:avLst/>
          </a:prstGeom>
          <a:ln w="25400">
            <a:solidFill>
              <a:srgbClr val="22D3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200400"/>
            <a:ext cx="4023360" cy="1280160"/>
          </a:xfrm>
          <a:prstGeom prst="roundRect">
            <a:avLst>
              <a:gd name="adj" fmla="val 12857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474720"/>
            <a:ext cx="731520" cy="7315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310128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목적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840480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무엇을 위해 쓰나?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3840480"/>
            <a:ext cx="457200" cy="182880"/>
          </a:xfrm>
          <a:prstGeom prst="line">
            <a:avLst/>
          </a:prstGeom>
          <a:ln w="25400">
            <a:solidFill>
              <a:srgbClr val="38BD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617720"/>
            <a:ext cx="4023360" cy="1280160"/>
          </a:xfrm>
          <a:prstGeom prst="roundRect">
            <a:avLst>
              <a:gd name="adj" fmla="val 12857"/>
            </a:avLst>
          </a:prstGeom>
          <a:solidFill>
            <a:srgbClr val="1A1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727448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57800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누가 읽나?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572000" y="4023360"/>
            <a:ext cx="457200" cy="1234440"/>
          </a:xfrm>
          <a:prstGeom prst="line">
            <a:avLst/>
          </a:prstGeom>
          <a:ln w="25400">
            <a:solidFill>
              <a:srgbClr val="A78BF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16952" y="1783080"/>
            <a:ext cx="4023360" cy="1280160"/>
          </a:xfrm>
          <a:prstGeom prst="roundRect">
            <a:avLst>
              <a:gd name="adj" fmla="val 12857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99831" y="205740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9831" y="20574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1892807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4232" y="2423160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정확히 무엇을 해달라?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178040" y="2423160"/>
            <a:ext cx="438912" cy="1600200"/>
          </a:xfrm>
          <a:prstGeom prst="line">
            <a:avLst/>
          </a:prstGeom>
          <a:ln w="25400">
            <a:solidFill>
              <a:srgbClr val="EC48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16952" y="3200400"/>
            <a:ext cx="4023360" cy="1280160"/>
          </a:xfrm>
          <a:prstGeom prst="roundRect">
            <a:avLst>
              <a:gd name="adj" fmla="val 12857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99831" y="347472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1" y="34747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232" y="3310128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형식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4232" y="3840480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어떤 모양·분량으로?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7178040" y="3840480"/>
            <a:ext cx="438912" cy="182880"/>
          </a:xfrm>
          <a:prstGeom prst="line">
            <a:avLst/>
          </a:prstGeom>
          <a:ln w="25400">
            <a:solidFill>
              <a:srgbClr val="FB92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616952" y="4617720"/>
            <a:ext cx="4023360" cy="1280160"/>
          </a:xfrm>
          <a:prstGeom prst="roundRect">
            <a:avLst>
              <a:gd name="adj" fmla="val 12857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99831" y="4892040"/>
            <a:ext cx="731520" cy="73152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9831" y="4892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4232" y="4727448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주의사항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4232" y="5257800"/>
            <a:ext cx="283464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하지 말아야 할 것은?</a:t>
            </a:r>
          </a:p>
        </p:txBody>
      </p:sp>
      <p:cxnSp>
        <p:nvCxnSpPr>
          <p:cNvPr id="46" name="Connector 45"/>
          <p:cNvCxnSpPr/>
          <p:nvPr/>
        </p:nvCxnSpPr>
        <p:spPr>
          <a:xfrm flipH="1" flipV="1">
            <a:off x="7178040" y="4023360"/>
            <a:ext cx="438912" cy="1234440"/>
          </a:xfrm>
          <a:prstGeom prst="line">
            <a:avLst/>
          </a:prstGeom>
          <a:ln w="25400">
            <a:solidFill>
              <a:srgbClr val="FFD9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4818888" y="2697480"/>
            <a:ext cx="2560320" cy="256032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18888" y="3246120"/>
            <a:ext cx="256032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6요소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18888" y="4023360"/>
            <a:ext cx="256032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업무지시서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실습: 납품 지연 사과 메일을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6요소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써봅시다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2912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2912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2교시 · 업무지시서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38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7589520" cy="64008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911095"/>
            <a:ext cx="755904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11095"/>
            <a:ext cx="755904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783080"/>
            <a:ext cx="626364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포장재 입고 지연으로 납품이 3일 늦어졌다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14600"/>
            <a:ext cx="7589520" cy="64008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642616"/>
            <a:ext cx="755904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42616"/>
            <a:ext cx="755904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목적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514600"/>
            <a:ext cx="626364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납품일을 정확히 알고 일정을 조정하게 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46120"/>
            <a:ext cx="7589520" cy="64008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374136"/>
            <a:ext cx="755904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374136"/>
            <a:ext cx="755904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246120"/>
            <a:ext cx="626364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오랜 거래처의 구매 담당 과장님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40"/>
            <a:ext cx="7589520" cy="64008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105656"/>
            <a:ext cx="755904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105656"/>
            <a:ext cx="755904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977640"/>
            <a:ext cx="626364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사과와 새 납품일 안내 이메일 (제목 포함)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09160"/>
            <a:ext cx="7589520" cy="64008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4837176"/>
            <a:ext cx="755904" cy="38404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837176"/>
            <a:ext cx="755904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형식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709160"/>
            <a:ext cx="626364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제목 1줄 + 본문 6문장 이내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40680"/>
            <a:ext cx="7589520" cy="64008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5568696"/>
            <a:ext cx="755904" cy="384048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568696"/>
            <a:ext cx="755904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5440680"/>
            <a:ext cx="626364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아래 사실만 쓰고, 없는 내용은 지어내지 말 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1783080"/>
            <a:ext cx="3227832" cy="4297680"/>
          </a:xfrm>
          <a:prstGeom prst="roundRect">
            <a:avLst>
              <a:gd name="adj" fmla="val 5099"/>
            </a:avLst>
          </a:prstGeom>
          <a:solidFill>
            <a:srgbClr val="241E5A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1874519"/>
            <a:ext cx="29260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사실 자료 (이것만!)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468880"/>
            <a:ext cx="2880360" cy="2560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납품일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11월 9일(월)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납품일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11월 12일(목)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사유: 포장재 입고 지연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5257800"/>
            <a:ext cx="2132330" cy="4114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5257800"/>
            <a:ext cx="2132330" cy="41148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검수: 날짜·요일 맞나?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번에 끝내지 말고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세 번 고쳐 쓰기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2912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2912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2교시 · 업무지시서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39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456432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40"/>
            <a:ext cx="24688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더 짧게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3063240" cy="868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4문장으로 줄여줘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41648" y="2468880"/>
            <a:ext cx="292608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0831" y="1783080"/>
            <a:ext cx="3456432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53712" y="192024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920240"/>
            <a:ext cx="24688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더 따뜻하게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1" y="2697480"/>
            <a:ext cx="3063240" cy="868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사과의 느낌은 유지하며 더 따뜻하게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63840" y="2468880"/>
            <a:ext cx="292608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93023" y="1783080"/>
            <a:ext cx="3456432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75903" y="1920240"/>
            <a:ext cx="594360" cy="59436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3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1920240"/>
            <a:ext cx="24688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굵게 + 제목 후보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697480"/>
            <a:ext cx="3063240" cy="868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납품일을 굵게, 제목 3가지 제안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11091672" cy="2377440"/>
          </a:xfrm>
          <a:prstGeom prst="roundRect">
            <a:avLst>
              <a:gd name="adj" fmla="val 6923"/>
            </a:avLst>
          </a:prstGeom>
          <a:solidFill>
            <a:srgbClr val="241E5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13632"/>
            <a:ext cx="73152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검토 프롬프트: 끝까지 가져갈 습관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526280"/>
            <a:ext cx="3582669" cy="45720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526280"/>
            <a:ext cx="3582669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요청한 내용이 모두 들어갔나?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526280"/>
            <a:ext cx="3817620" cy="45720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526280"/>
            <a:ext cx="38176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숫자·날짜·요일이 자료와 같은가?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093208"/>
            <a:ext cx="3582669" cy="45720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93208"/>
            <a:ext cx="3582669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받는 사람에게 맞는 말투인가?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093208"/>
            <a:ext cx="3379470" cy="45720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093208"/>
            <a:ext cx="337947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길거나 중복된 표현은 없나?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→ "문제점을 먼저 알려주고, 고친 최종본을 써줘"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마법의 한 줄: </a:t>
            </a:r>
            <a:r>
              <a:rPr sz="3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인터뷰 프롬프트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29129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2912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2교시 · 업무지시서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40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783080"/>
            <a:ext cx="5303520" cy="1234440"/>
          </a:xfrm>
          <a:prstGeom prst="roundRect">
            <a:avLst>
              <a:gd name="adj" fmla="val 18518"/>
            </a:avLst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1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783080"/>
            <a:ext cx="4937760" cy="12344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"지금부터 [공지문 작성]을 도와줘.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바로 쓰지 말고, 꼭 필요한 질문을 최대 5개만 먼저 해줘."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205740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4612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3154680"/>
            <a:ext cx="5852160" cy="1463040"/>
          </a:xfrm>
          <a:prstGeom prst="roundRect">
            <a:avLst>
              <a:gd name="adj" fmla="val 15625"/>
            </a:avLst>
          </a:prstGeom>
          <a:solidFill>
            <a:srgbClr val="1A1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154680"/>
            <a:ext cx="5486400" cy="1463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일시와 장소는요?  ② 대상은 누구인가요?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꼭 들어갈 내용은요?  ④ 분량과 말투는요?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쓰지 말아야 할 표현이 있나요?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846320"/>
            <a:ext cx="4206240" cy="777240"/>
          </a:xfrm>
          <a:prstGeom prst="roundRect">
            <a:avLst>
              <a:gd name="adj" fmla="val 29411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4846320"/>
            <a:ext cx="384048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(내가 짧게 답하면…)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489204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892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669280"/>
            <a:ext cx="5852160" cy="548640"/>
          </a:xfrm>
          <a:prstGeom prst="roundRect">
            <a:avLst>
              <a:gd name="adj" fmla="val 41666"/>
            </a:avLst>
          </a:prstGeom>
          <a:solidFill>
            <a:srgbClr val="1A164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669280"/>
            <a:ext cx="5486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그때 작성해드릴게요! 완성본이 나옵니다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66928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1783080"/>
            <a:ext cx="2313432" cy="4434840"/>
          </a:xfrm>
          <a:prstGeom prst="roundRect">
            <a:avLst>
              <a:gd name="adj" fmla="val 7114"/>
            </a:avLst>
          </a:prstGeom>
          <a:solidFill>
            <a:srgbClr val="241E5A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1920240"/>
            <a:ext cx="2057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꿀팁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514600"/>
            <a:ext cx="2057400" cy="3566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6요소가 어렵게 느껴지면 이 한 줄이면 됩니다.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6요소를 대신 물어봅니다.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sec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931920"/>
            <a:ext cx="7680960" cy="1280160"/>
          </a:xfrm>
        </p:spPr>
        <p:txBody>
          <a:bodyPr wrap="square" lIns="4572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 3종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</a:t>
            </a:r>
          </a:p>
        </p:txBody>
      </p:sp>
      <p:pic>
        <p:nvPicPr>
          <p:cNvPr id="6" name="Picture 5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004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14400"/>
            <a:ext cx="594360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583680" cy="50292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680960" cy="54864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메일 · 공지 · 주간보고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897880"/>
            <a:ext cx="239903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97880"/>
            <a:ext cx="239903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11:25 ~ 12:15 · 50분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29000" cy="4754880"/>
          </a:xfrm>
          <a:prstGeom prst="roundRect">
            <a:avLst>
              <a:gd name="adj" fmla="val 7466"/>
            </a:avLst>
          </a:prstGeom>
          <a:solidFill>
            <a:srgbClr val="0B0A1F">
              <a:alpha val="55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292608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이번 교시에 하는 일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192023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3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2879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틀린 곳 3개 찾기 게임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288035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5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88920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받은 메일 → 답장 3종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84047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7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4903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메모 → 공지문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0" y="480059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80059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0915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메모 → 주간보고 4단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41 / 81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결정은 사람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문장은 AI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738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738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3교시 · 문서 3종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42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3456432" cy="3383280"/>
          </a:xfrm>
          <a:prstGeom prst="roundRect">
            <a:avLst>
              <a:gd name="adj" fmla="val 4864"/>
            </a:avLst>
          </a:prstGeom>
          <a:solidFill>
            <a:srgbClr val="1A1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011680"/>
            <a:ext cx="1000759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1000759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310896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3017520" cy="1554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3%까지 가능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 50대 이상·3개월 약정이 조건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41648" y="3246120"/>
            <a:ext cx="292608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0831" y="1828800"/>
            <a:ext cx="3456432" cy="3383280"/>
          </a:xfrm>
          <a:prstGeom prst="roundRect">
            <a:avLst>
              <a:gd name="adj" fmla="val 4864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9431" y="2011680"/>
            <a:ext cx="80391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2011680"/>
            <a:ext cx="80391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651760"/>
            <a:ext cx="310896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문장 만들기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1" y="3520440"/>
            <a:ext cx="3017520" cy="1554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정중한 격식체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메일 6문장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63840" y="3246120"/>
            <a:ext cx="292608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93023" y="1828800"/>
            <a:ext cx="3456432" cy="3383280"/>
          </a:xfrm>
          <a:prstGeom prst="roundRect">
            <a:avLst>
              <a:gd name="adj" fmla="val 4864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1624" y="2011680"/>
            <a:ext cx="1000759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2011680"/>
            <a:ext cx="1000759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3" y="2651760"/>
            <a:ext cx="310896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검수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3520440"/>
            <a:ext cx="3017520" cy="1554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숫자·날짜·이름 확인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 발송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486400"/>
            <a:ext cx="11091672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판단은 내가, 글쓰기는 AI가, 마지막 확인은 다시 내가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쓴 공지문, </a:t>
            </a:r>
            <a:r>
              <a:rPr sz="34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틀린 곳 3개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 찾아라!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738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738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3교시 · 문서 3종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43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5394960" cy="3108960"/>
          </a:xfrm>
          <a:prstGeom prst="roundRect">
            <a:avLst>
              <a:gd name="adj" fmla="val 5294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240280"/>
            <a:ext cx="133477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1334770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원본 메모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4937760" cy="2377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전산 점검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11월 13일(금) 오후 2시~4시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이메일·업무시스템 접속 제한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문의: 총무팀 김미영 내선 120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103120"/>
            <a:ext cx="5394960" cy="3108960"/>
          </a:xfrm>
          <a:prstGeom prst="roundRect">
            <a:avLst>
              <a:gd name="adj" fmla="val 5294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2240280"/>
            <a:ext cx="1785620" cy="36576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240280"/>
            <a:ext cx="1785620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쓴 공지문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743200"/>
            <a:ext cx="4937760" cy="2377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11월 13일(목) 오후 2시부터 6시까지 전산 점검이 있습니다. 이메일과 업무시스템 접속이 제한됩니다. 문의는 총무팀 김미영 내선 102로 연락 바랍니다.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691640"/>
            <a:ext cx="2861310" cy="411480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691640"/>
            <a:ext cx="2861310" cy="41148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2분 타이머 · 틀린 곳 3개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EC4899"/>
              </a:gs>
              <a:gs pos="100000">
                <a:srgbClr val="FB718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1091672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찾았으면 손을 드세요!  AI가 쓴 문서는 숫자·날짜·이름 3가지를 꼭 확인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 공개: </a:t>
            </a: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요일 · 시간 · 번호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738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738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3교시 · 문서 3종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44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394960" cy="2468880"/>
          </a:xfrm>
          <a:prstGeom prst="roundRect">
            <a:avLst>
              <a:gd name="adj" fmla="val 6666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1222756" cy="34747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1222756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원본 메모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4937760" cy="1828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11월 13일</a:t>
            </a:r>
            <a:r>
              <a:rPr sz="19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(금)</a:t>
            </a: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오후 2시~</a:t>
            </a:r>
            <a:r>
              <a:rPr sz="19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4시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문의: 총무팀 김미영 내선 </a:t>
            </a:r>
            <a:r>
              <a:rPr sz="19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120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828800"/>
            <a:ext cx="5394960" cy="2468880"/>
          </a:xfrm>
          <a:prstGeom prst="roundRect">
            <a:avLst>
              <a:gd name="adj" fmla="val 6666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1965960"/>
            <a:ext cx="1648206" cy="347472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965960"/>
            <a:ext cx="1648206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AI가 쓴 공지문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423160"/>
            <a:ext cx="4937760" cy="1828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11월 13일</a:t>
            </a:r>
            <a:r>
              <a:rPr sz="19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(목)</a:t>
            </a: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오후 2시부터 </a:t>
            </a:r>
            <a:r>
              <a:rPr sz="19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6시</a:t>
            </a: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까지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문의는 총무팀 김미영 내선 </a:t>
            </a:r>
            <a:r>
              <a:rPr sz="19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102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3456432" cy="1371600"/>
          </a:xfrm>
          <a:prstGeom prst="roundRect">
            <a:avLst>
              <a:gd name="adj" fmla="val 1200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7492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4572000"/>
            <a:ext cx="2560320" cy="1371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요일  목 → 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1" y="4572000"/>
            <a:ext cx="3456432" cy="1371600"/>
          </a:xfrm>
          <a:prstGeom prst="roundRect">
            <a:avLst>
              <a:gd name="adj" fmla="val 12000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53712" y="5074920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5074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572000"/>
            <a:ext cx="2560320" cy="1371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종료 시간  6시 → 4시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3" y="4572000"/>
            <a:ext cx="3456432" cy="1371600"/>
          </a:xfrm>
          <a:prstGeom prst="roundRect">
            <a:avLst>
              <a:gd name="adj" fmla="val 12000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75903" y="5074920"/>
            <a:ext cx="548640" cy="54864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3" y="5074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703" y="4572000"/>
            <a:ext cx="2560320" cy="1371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내선 번호  102 → 120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받은 메일 → 답장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3종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내 입장만 바꾸세요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738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738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3교시 · 문서 3종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45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4206240" cy="4389120"/>
          </a:xfrm>
          <a:prstGeom prst="roundRect">
            <a:avLst>
              <a:gd name="adj" fmla="val 3913"/>
            </a:avLst>
          </a:prstGeom>
          <a:solidFill>
            <a:srgbClr val="241E5A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20240"/>
            <a:ext cx="1334770" cy="365760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1334770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받은 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3749039" cy="3611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순천마트 구매팀 박○○입니다.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공기청정기 단가를 5% 낮춰주실 수 있을까요?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가능하다면 월 주문량을 50대로 늘리겠습니다.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11월 6일(금)까지 회신 부탁드립니다.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1783080"/>
            <a:ext cx="6382512" cy="1371600"/>
          </a:xfrm>
          <a:prstGeom prst="roundRect">
            <a:avLst>
              <a:gd name="adj" fmla="val 12000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920240"/>
            <a:ext cx="964184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1920240"/>
            <a:ext cx="964184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수락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23160"/>
            <a:ext cx="59436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입장: 5% 인하를 받아들이고 월 50대 확정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754880" y="2468880"/>
            <a:ext cx="502920" cy="1508759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57800" y="3291839"/>
            <a:ext cx="6382512" cy="1371600"/>
          </a:xfrm>
          <a:prstGeom prst="roundRect">
            <a:avLst>
              <a:gd name="adj" fmla="val 1200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0" y="3428999"/>
            <a:ext cx="1643634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428999"/>
            <a:ext cx="1643634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조건부 수락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931920"/>
            <a:ext cx="59436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입장: 3%까지 가능, 월 50대·3개월 약정이 조건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54880" y="3977639"/>
            <a:ext cx="502920" cy="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257800" y="4800600"/>
            <a:ext cx="6382512" cy="1371600"/>
          </a:xfrm>
          <a:prstGeom prst="roundRect">
            <a:avLst>
              <a:gd name="adj" fmla="val 12000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0" y="4937760"/>
            <a:ext cx="1643634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937760"/>
            <a:ext cx="1643634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정중한 거절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440680"/>
            <a:ext cx="59436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입장: 인하는 어렵지만 다른 혜택을 제안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4880" y="3977639"/>
            <a:ext cx="502920" cy="1508761"/>
          </a:xfrm>
          <a:prstGeom prst="line">
            <a:avLst/>
          </a:prstGeom>
          <a:ln w="2540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주간보고는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4단 구조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1분 만에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738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738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3교시 · 문서 3종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46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670048" cy="2468880"/>
          </a:xfrm>
          <a:prstGeom prst="roundRect">
            <a:avLst>
              <a:gd name="adj" fmla="val 6666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228600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 주 핵심을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2문장으로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36976" y="2743200"/>
            <a:ext cx="128016" cy="36576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5848" y="1783080"/>
            <a:ext cx="2670048" cy="2468880"/>
          </a:xfrm>
          <a:prstGeom prst="roundRect">
            <a:avLst>
              <a:gd name="adj" fmla="val 6666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38728" y="1920240"/>
            <a:ext cx="594360" cy="5943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진행상황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697480"/>
            <a:ext cx="228600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· 상태 · 진행률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표로 정리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44183" y="2743200"/>
            <a:ext cx="128016" cy="36576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5" y="1783080"/>
            <a:ext cx="2670048" cy="2468880"/>
          </a:xfrm>
          <a:prstGeom prst="roundRect">
            <a:avLst>
              <a:gd name="adj" fmla="val 6666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1920240"/>
            <a:ext cx="594360" cy="59436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5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문제점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2697480"/>
            <a:ext cx="228600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막힌 일과 원인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51392" y="2743200"/>
            <a:ext cx="128016" cy="36576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70263" y="1783080"/>
            <a:ext cx="2670048" cy="2468880"/>
          </a:xfrm>
          <a:prstGeom prst="roundRect">
            <a:avLst>
              <a:gd name="adj" fmla="val 6666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53143" y="192024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3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4663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향후계획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3" y="2697480"/>
            <a:ext cx="228600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 할 일과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마감일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526280"/>
            <a:ext cx="11091672" cy="1691640"/>
          </a:xfrm>
          <a:prstGeom prst="roundRect">
            <a:avLst>
              <a:gd name="adj" fmla="val 9729"/>
            </a:avLst>
          </a:prstGeom>
          <a:solidFill>
            <a:srgbClr val="241E5A"/>
          </a:solidFill>
          <a:ln w="1905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572000"/>
            <a:ext cx="41148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내 메모 → 숫자 지키기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029200"/>
            <a:ext cx="64008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진행: 신제품 안내자료 </a:t>
            </a:r>
            <a:r>
              <a:rPr sz="17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주: </a:t>
            </a:r>
            <a:r>
              <a:rPr sz="17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11월 13일(금)</a:t>
            </a: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까지 마감, 거래처 </a:t>
            </a:r>
            <a:r>
              <a:rPr sz="17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3곳</a:t>
            </a: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발송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5120640"/>
            <a:ext cx="3178810" cy="50292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5120640"/>
            <a:ext cx="3178810" cy="50292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검수: 이 숫자가 그대로인가?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sec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931920"/>
            <a:ext cx="7680960" cy="1280160"/>
          </a:xfrm>
        </p:spPr>
        <p:txBody>
          <a:bodyPr wrap="square" lIns="4572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요약·회의록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</a:t>
            </a:r>
          </a:p>
        </p:txBody>
      </p:sp>
      <p:pic>
        <p:nvPicPr>
          <p:cNvPr id="6" name="Picture 5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004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14400"/>
            <a:ext cx="594360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583680" cy="50292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680960" cy="54864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 글은 5줄로, 어수선한 메모는 7항목으로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897880"/>
            <a:ext cx="239903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97880"/>
            <a:ext cx="239903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13:15 ~ 13:50 · 35분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29000" cy="4754880"/>
          </a:xfrm>
          <a:prstGeom prst="roundRect">
            <a:avLst>
              <a:gd name="adj" fmla="val 7466"/>
            </a:avLst>
          </a:prstGeom>
          <a:solidFill>
            <a:srgbClr val="0B0A1F">
              <a:alpha val="55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292608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이번 교시에 하는 일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192023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3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2879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 공고문 요약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288035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5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88920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메모 → 7항목 회의록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84047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7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4903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말로 하는 현장 메모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47 / 81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 공고문 →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5줄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요약은 AI가 제일 잘해요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735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735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4교시 · 요약·회의록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48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200400" cy="3429000"/>
          </a:xfrm>
          <a:prstGeom prst="roundRect">
            <a:avLst>
              <a:gd name="adj" fmla="val 5142"/>
            </a:avLst>
          </a:prstGeom>
          <a:solidFill>
            <a:srgbClr val="1A1640"/>
          </a:solidFill>
          <a:ln w="19050">
            <a:solidFill>
              <a:srgbClr val="B4B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74519"/>
            <a:ext cx="283464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긴 공고문 (붙여넣기)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23160"/>
            <a:ext cx="2743200" cy="164592"/>
          </a:xfrm>
          <a:prstGeom prst="roundRect">
            <a:avLst>
              <a:gd name="adj" fmla="val 50000"/>
            </a:avLst>
          </a:prstGeom>
          <a:solidFill>
            <a:srgbClr val="B4B8D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761488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B4B8D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099815"/>
            <a:ext cx="2743200" cy="164592"/>
          </a:xfrm>
          <a:prstGeom prst="roundRect">
            <a:avLst>
              <a:gd name="adj" fmla="val 50000"/>
            </a:avLst>
          </a:prstGeom>
          <a:solidFill>
            <a:srgbClr val="B4B8D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438144"/>
            <a:ext cx="2194560" cy="164592"/>
          </a:xfrm>
          <a:prstGeom prst="roundRect">
            <a:avLst>
              <a:gd name="adj" fmla="val 50000"/>
            </a:avLst>
          </a:prstGeom>
          <a:solidFill>
            <a:srgbClr val="B4B8D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776472"/>
            <a:ext cx="2743200" cy="164592"/>
          </a:xfrm>
          <a:prstGeom prst="roundRect">
            <a:avLst>
              <a:gd name="adj" fmla="val 50000"/>
            </a:avLst>
          </a:prstGeom>
          <a:solidFill>
            <a:srgbClr val="B4B8D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2377440" cy="164592"/>
          </a:xfrm>
          <a:prstGeom prst="roundRect">
            <a:avLst>
              <a:gd name="adj" fmla="val 50000"/>
            </a:avLst>
          </a:prstGeom>
          <a:solidFill>
            <a:srgbClr val="B4B8D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453127"/>
            <a:ext cx="2743200" cy="164592"/>
          </a:xfrm>
          <a:prstGeom prst="roundRect">
            <a:avLst>
              <a:gd name="adj" fmla="val 50000"/>
            </a:avLst>
          </a:prstGeom>
          <a:solidFill>
            <a:srgbClr val="B4B8D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791456"/>
            <a:ext cx="1737360" cy="164592"/>
          </a:xfrm>
          <a:prstGeom prst="roundRect">
            <a:avLst>
              <a:gd name="adj" fmla="val 50000"/>
            </a:avLst>
          </a:prstGeom>
          <a:solidFill>
            <a:srgbClr val="B4B8D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3840480" y="3108960"/>
            <a:ext cx="640080" cy="6400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17720" y="1783080"/>
            <a:ext cx="3429000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00600" y="196596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874519"/>
            <a:ext cx="2468880" cy="1463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3줄 요약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1783080"/>
            <a:ext cx="3429000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66759" y="196596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1874519"/>
            <a:ext cx="2468880" cy="1463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핵심 5가지 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566160"/>
            <a:ext cx="3429000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00600" y="3749039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74903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657600"/>
            <a:ext cx="2468880" cy="1463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우리 회사 신청 가능? 체크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3566160"/>
            <a:ext cx="3429000" cy="1645920"/>
          </a:xfrm>
          <a:prstGeom prst="roundRect">
            <a:avLst>
              <a:gd name="adj" fmla="val 10000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66759" y="3749039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59" y="374903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59" y="3657600"/>
            <a:ext cx="2468880" cy="1463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마감까지 할 일 (날짜순)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8288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정답 체크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5468112"/>
            <a:ext cx="2588005" cy="45720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0" y="5468112"/>
            <a:ext cx="2588005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마감 11월 27일(금) 18시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57800" y="5468112"/>
            <a:ext cx="2695956" cy="45720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5468112"/>
            <a:ext cx="2695956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지원 70% · 최대 300만 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5468112"/>
            <a:ext cx="2416555" cy="45720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5468112"/>
            <a:ext cx="2416555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직원 12명 = 신청 가능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※ 가상 공고문 예시입니다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어수선한 메모 →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7항목 회의록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735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735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4교시 · 요약·회의록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49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670048" cy="1691640"/>
          </a:xfrm>
          <a:prstGeom prst="roundRect">
            <a:avLst>
              <a:gd name="adj" fmla="val 9729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목적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1783080"/>
            <a:ext cx="2670048" cy="1691640"/>
          </a:xfrm>
          <a:prstGeom prst="roundRect">
            <a:avLst>
              <a:gd name="adj" fmla="val 9729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8728" y="1965960"/>
            <a:ext cx="566928" cy="5669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651760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논의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1783080"/>
            <a:ext cx="2670048" cy="1691640"/>
          </a:xfrm>
          <a:prstGeom prst="roundRect">
            <a:avLst>
              <a:gd name="adj" fmla="val 9729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45936" y="1965960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651760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최종 결정사항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3" y="1783080"/>
            <a:ext cx="2670048" cy="1691640"/>
          </a:xfrm>
          <a:prstGeom prst="roundRect">
            <a:avLst>
              <a:gd name="adj" fmla="val 9729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53143" y="1965960"/>
            <a:ext cx="566928" cy="566928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3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3" y="2651760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미결사항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11880"/>
            <a:ext cx="2670048" cy="1691640"/>
          </a:xfrm>
          <a:prstGeom prst="roundRect">
            <a:avLst>
              <a:gd name="adj" fmla="val 9729"/>
            </a:avLst>
          </a:prstGeom>
          <a:solidFill>
            <a:srgbClr val="1A1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794760"/>
            <a:ext cx="566928" cy="5669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947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80560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담당자별 업무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55848" y="3611880"/>
            <a:ext cx="2670048" cy="1691640"/>
          </a:xfrm>
          <a:prstGeom prst="roundRect">
            <a:avLst>
              <a:gd name="adj" fmla="val 9729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38728" y="3794760"/>
            <a:ext cx="566928" cy="56692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8728" y="37947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8728" y="4480560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 기한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3055" y="3611880"/>
            <a:ext cx="2670048" cy="1691640"/>
          </a:xfrm>
          <a:prstGeom prst="roundRect">
            <a:avLst>
              <a:gd name="adj" fmla="val 9729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45936" y="3794760"/>
            <a:ext cx="566928" cy="566928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37947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480560"/>
            <a:ext cx="2377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회의 확인사항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3" y="3611880"/>
            <a:ext cx="2670048" cy="1691640"/>
          </a:xfrm>
          <a:prstGeom prst="roundRect">
            <a:avLst>
              <a:gd name="adj" fmla="val 9729"/>
            </a:avLst>
          </a:prstGeom>
          <a:gradFill rotWithShape="1">
            <a:gsLst>
              <a:gs pos="0">
                <a:srgbClr val="EF4444"/>
              </a:gs>
              <a:gs pos="100000">
                <a:srgbClr val="FB718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61703" y="3703320"/>
            <a:ext cx="2487168" cy="1508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원문에 없으면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'확인 필요'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지어내지 않기!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22499"/>
            </a:avLst>
          </a:prstGeom>
          <a:solidFill>
            <a:srgbClr val="241E5A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486400"/>
            <a:ext cx="1069848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 체크:  결정 = 사전주문 5% 할인 · 서연이 안내 메일 초안   |   기한은 대부분 "확인 필요"가 정상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말로 메모하고 → </a:t>
            </a: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업무 추적표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까지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735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735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4교시 · 요약·회의록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50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560320" cy="283464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40"/>
            <a:ext cx="15544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말하기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219456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구글 문서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 → 음성 입력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45536" y="2926080"/>
            <a:ext cx="18288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5848" y="1783080"/>
            <a:ext cx="2560320" cy="283464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38728" y="1920240"/>
            <a:ext cx="594360" cy="5943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1920240"/>
            <a:ext cx="15544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받아쓰기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743200"/>
            <a:ext cx="219456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말이 글자로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바로 변환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2744" y="2926080"/>
            <a:ext cx="18288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5" y="1783080"/>
            <a:ext cx="2560320" cy="283464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192024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5" y="1920240"/>
            <a:ext cx="15544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AI 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2743200"/>
            <a:ext cx="219456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7항목 회의록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담당자 표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59951" y="2926080"/>
            <a:ext cx="18288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70263" y="1783080"/>
            <a:ext cx="2560320" cy="283464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53143" y="192024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3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4663" y="1920240"/>
            <a:ext cx="15544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구글 시트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3" y="2743200"/>
            <a:ext cx="219456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 여부 열을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추가해 추적표로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12000"/>
            </a:avLst>
          </a:prstGeom>
          <a:solidFill>
            <a:srgbClr val="241E5A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4983480"/>
            <a:ext cx="858520" cy="34747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83480"/>
            <a:ext cx="85852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4937760"/>
            <a:ext cx="969264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Gemini Notebook (구 NotebookLM)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공고문을 "소스"로 올리고 질문하기, 오디오 개요 만들기: 내 자료만으로 답하는 AI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sec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931920"/>
            <a:ext cx="7680960" cy="1280160"/>
          </a:xfrm>
        </p:spPr>
        <p:txBody>
          <a:bodyPr wrap="square" lIns="4572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이상값 헌터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</a:t>
            </a:r>
          </a:p>
        </p:txBody>
      </p:sp>
      <p:pic>
        <p:nvPicPr>
          <p:cNvPr id="6" name="Picture 5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004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14400"/>
            <a:ext cx="594360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583680" cy="50292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680960" cy="54864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숫자는 AI가 틀릴 수 있다: 범인을 찾아라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897880"/>
            <a:ext cx="239903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97880"/>
            <a:ext cx="239903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14:00 ~ 14:50 · 50분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29000" cy="4754880"/>
          </a:xfrm>
          <a:prstGeom prst="roundRect">
            <a:avLst>
              <a:gd name="adj" fmla="val 7466"/>
            </a:avLst>
          </a:prstGeom>
          <a:solidFill>
            <a:srgbClr val="0B0A1F">
              <a:alpha val="55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292608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이번 교시에 하는 일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192023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3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2879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없이 눈으로 먼저 찾기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288035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5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88920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분석 + 정답지 대조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84047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7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4903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정정 후 다시 분석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0" y="480059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80059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0915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원페이지 보고서 만들기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51 / 81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수배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이 30행 안에 숫자 하나가 숨어 있다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2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2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5교시 · 이상값 헌터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52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4023360" cy="4434840"/>
          </a:xfrm>
          <a:prstGeom prst="roundRect">
            <a:avLst>
              <a:gd name="adj" fmla="val 4090"/>
            </a:avLst>
          </a:prstGeom>
          <a:solidFill>
            <a:srgbClr val="241E5A"/>
          </a:solidFill>
          <a:ln w="381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965960"/>
            <a:ext cx="1661160" cy="42062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1661160" cy="42062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범인은 1명</a:t>
            </a:r>
          </a:p>
        </p:txBody>
      </p:sp>
      <p:sp>
        <p:nvSpPr>
          <p:cNvPr id="14" name="Oval 13"/>
          <p:cNvSpPr/>
          <p:nvPr/>
        </p:nvSpPr>
        <p:spPr>
          <a:xfrm>
            <a:off x="1417320" y="2697480"/>
            <a:ext cx="1920240" cy="1920240"/>
          </a:xfrm>
          <a:prstGeom prst="ellipse">
            <a:avLst/>
          </a:prstGeom>
          <a:noFill/>
          <a:ln w="1143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880360" y="4251960"/>
            <a:ext cx="731520" cy="731520"/>
          </a:xfrm>
          <a:prstGeom prst="line">
            <a:avLst/>
          </a:prstGeom>
          <a:ln w="177800">
            <a:solidFill>
              <a:srgbClr val="FFD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17320" y="2697480"/>
            <a:ext cx="1920240" cy="1920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3566160" cy="10972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단서: 단가 = 매출액 ÷ 판매수량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제품별 단가는 늘 같아야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1783080"/>
            <a:ext cx="5943600" cy="4572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783080"/>
            <a:ext cx="64008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783080"/>
            <a:ext cx="118872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거래처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783080"/>
            <a:ext cx="182880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제품명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83080"/>
            <a:ext cx="82296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783080"/>
            <a:ext cx="146304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매출액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2295144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295144"/>
            <a:ext cx="64008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295144"/>
            <a:ext cx="118872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여수유통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295144"/>
            <a:ext cx="182880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스마트조명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295144"/>
            <a:ext cx="82296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295144"/>
            <a:ext cx="146304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3,600,000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2807208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2807208"/>
            <a:ext cx="64008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2807208"/>
            <a:ext cx="118872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여수유통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807208"/>
            <a:ext cx="182880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무선충전기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807208"/>
            <a:ext cx="82296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807208"/>
            <a:ext cx="146304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1,600,000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3319272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3319272"/>
            <a:ext cx="64008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319272"/>
            <a:ext cx="118872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순천마트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319272"/>
            <a:ext cx="182880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공기청정기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319272"/>
            <a:ext cx="82296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319272"/>
            <a:ext cx="146304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6,750,000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3831335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3831335"/>
            <a:ext cx="64008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3831335"/>
            <a:ext cx="118872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순천마트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831335"/>
            <a:ext cx="182880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블루투스스피커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831335"/>
            <a:ext cx="82296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831335"/>
            <a:ext cx="146304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3,000,000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46320" y="434340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4343400"/>
            <a:ext cx="64008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4343400"/>
            <a:ext cx="118872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광양상사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343400"/>
            <a:ext cx="182880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스마트조명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343400"/>
            <a:ext cx="82296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343400"/>
            <a:ext cx="1463040" cy="457200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2,700,000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4983480"/>
            <a:ext cx="676656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… 총 30행 (1월 ~ 3월)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46320" y="5532120"/>
            <a:ext cx="3870960" cy="45720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5532120"/>
            <a:ext cx="387096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4~10분: 구글 시트에서 눈으로 찾기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범인 잡는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4단계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2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2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5교시 · 이상값 헌터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53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560320" cy="324612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눈으로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219456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구글 시트에 붙여넣고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매출액 내림차순 정렬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43400"/>
            <a:ext cx="1057656" cy="3657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57656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4~10분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45536" y="3108960"/>
            <a:ext cx="18288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55848" y="1783080"/>
            <a:ext cx="2560320" cy="324612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38728" y="1920240"/>
            <a:ext cx="594360" cy="5943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AI에게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2743200"/>
            <a:ext cx="219456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+ 합계 + 증감률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상위 3곳을 한 번에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4448" y="4343400"/>
            <a:ext cx="1159256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4343400"/>
            <a:ext cx="1159256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10~22분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52744" y="3108960"/>
            <a:ext cx="18288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5" y="1783080"/>
            <a:ext cx="2560320" cy="324612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45936" y="1920240"/>
            <a:ext cx="594360" cy="59436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정답지 대조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5" y="2743200"/>
            <a:ext cx="219456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답이 맞나?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계산식을 직접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91655" y="4343400"/>
            <a:ext cx="1159256" cy="365760"/>
          </a:xfrm>
          <a:prstGeom prst="roundRect">
            <a:avLst>
              <a:gd name="adj" fmla="val 50000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5" y="4343400"/>
            <a:ext cx="1159256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22~30분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59951" y="3108960"/>
            <a:ext cx="18288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70263" y="1783080"/>
            <a:ext cx="2560320" cy="324612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53143" y="192024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3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38943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정정 후 재분석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98863" y="2743200"/>
            <a:ext cx="219456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올바른 값으로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다시 계산해 비교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98863" y="4343400"/>
            <a:ext cx="1159256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3" y="4343400"/>
            <a:ext cx="1159256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30~45분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241E5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257800"/>
            <a:ext cx="106070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프롬프트 3규칙:  </a:t>
            </a:r>
            <a:r>
              <a:rPr sz="18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제공된 숫자만 사용</a:t>
            </a: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8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계산식 함께 보여주기</a:t>
            </a: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8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이상한 값은 "확인 필요"로 보고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범인 공개: </a:t>
            </a:r>
            <a:r>
              <a:rPr sz="34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0이 하나 더 붙었다!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2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2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5교시 · 이상값 헌터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54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6492240" cy="566928"/>
          </a:xfrm>
          <a:prstGeom prst="roundRect">
            <a:avLst>
              <a:gd name="adj" fmla="val 19354"/>
            </a:avLst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64008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783080"/>
            <a:ext cx="118872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거래처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39" y="1783080"/>
            <a:ext cx="146304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제품명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1783080"/>
            <a:ext cx="6858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1783080"/>
            <a:ext cx="13716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매출액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79" y="1783080"/>
            <a:ext cx="11430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404872"/>
            <a:ext cx="6492240" cy="566928"/>
          </a:xfrm>
          <a:prstGeom prst="roundRect">
            <a:avLst>
              <a:gd name="adj" fmla="val 16129"/>
            </a:avLst>
          </a:prstGeom>
          <a:solidFill>
            <a:srgbClr val="2E277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404872"/>
            <a:ext cx="64008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2404872"/>
            <a:ext cx="118872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여수유통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39" y="2404872"/>
            <a:ext cx="146304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스마트조명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79" y="2404872"/>
            <a:ext cx="6858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2404872"/>
            <a:ext cx="13716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48,000,000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79" y="2404872"/>
            <a:ext cx="11430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026663"/>
            <a:ext cx="6492240" cy="566928"/>
          </a:xfrm>
          <a:prstGeom prst="roundRect">
            <a:avLst>
              <a:gd name="adj" fmla="val 16129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26663"/>
            <a:ext cx="64008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19" y="3026663"/>
            <a:ext cx="118872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여수유통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39" y="3026663"/>
            <a:ext cx="146304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무선충전기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79" y="3026663"/>
            <a:ext cx="6858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3026663"/>
            <a:ext cx="13716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2,600,000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79" y="3026663"/>
            <a:ext cx="11430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20,000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48455"/>
            <a:ext cx="6492240" cy="566928"/>
          </a:xfrm>
          <a:prstGeom prst="roundRect">
            <a:avLst>
              <a:gd name="adj" fmla="val 16129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48455"/>
            <a:ext cx="64008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3648455"/>
            <a:ext cx="118872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광주물산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39" y="3648455"/>
            <a:ext cx="146304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스마트조명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79" y="3648455"/>
            <a:ext cx="6858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79" y="3648455"/>
            <a:ext cx="13716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5,400,000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3648455"/>
            <a:ext cx="1143000" cy="566928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30,000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389120"/>
            <a:ext cx="2490470" cy="38404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389120"/>
            <a:ext cx="249047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↑ 범인: 단가가 10배!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9480" y="1783080"/>
            <a:ext cx="4370832" cy="2560320"/>
          </a:xfrm>
          <a:prstGeom prst="roundRect">
            <a:avLst>
              <a:gd name="adj" fmla="val 6428"/>
            </a:avLst>
          </a:prstGeom>
          <a:solidFill>
            <a:srgbClr val="241E5A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1828800"/>
            <a:ext cx="402336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같은 제품의 정상 단가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2331720"/>
            <a:ext cx="4023360" cy="1920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스마트조명  30,000원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무선충전기  20,000원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공기청정기  150,000원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블루투스스피커  50,000원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983480"/>
            <a:ext cx="3456432" cy="1234440"/>
          </a:xfrm>
          <a:prstGeom prst="roundRect">
            <a:avLst>
              <a:gd name="adj" fmla="val 13333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983480"/>
            <a:ext cx="3456432" cy="12344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160개 × 30,000원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70831" y="4983480"/>
            <a:ext cx="3456432" cy="1234440"/>
          </a:xfrm>
          <a:prstGeom prst="roundRect">
            <a:avLst>
              <a:gd name="adj" fmla="val 13333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831" y="4983480"/>
            <a:ext cx="3456432" cy="12344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= 4,800,000원  정상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93023" y="4983480"/>
            <a:ext cx="3456432" cy="1234440"/>
          </a:xfrm>
          <a:prstGeom prst="roundRect">
            <a:avLst>
              <a:gd name="adj" fmla="val 13333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93023" y="4983480"/>
            <a:ext cx="3456432" cy="12344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입력: 48,000,000원  10배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검수 전후: 3월 매출이 </a:t>
            </a:r>
            <a:r>
              <a:rPr sz="3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두 배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에서 </a:t>
            </a: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9%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2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2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5교시 · 이상값 헌터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55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7040880" cy="4434840"/>
          </a:xfrm>
          <a:prstGeom prst="roundRect">
            <a:avLst>
              <a:gd name="adj" fmla="val 3711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667512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월별 매출 (단위: 백만 원)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31520" y="2240280"/>
          <a:ext cx="6675120" cy="38862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863840" y="1783080"/>
            <a:ext cx="3776472" cy="1737360"/>
          </a:xfrm>
          <a:prstGeom prst="roundRect">
            <a:avLst>
              <a:gd name="adj" fmla="val 9473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828800"/>
            <a:ext cx="3776472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오류 포함 (함정)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286000"/>
            <a:ext cx="3776472" cy="10972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+104.7%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657600"/>
            <a:ext cx="3776472" cy="1737360"/>
          </a:xfrm>
          <a:prstGeom prst="roundRect">
            <a:avLst>
              <a:gd name="adj" fmla="val 9473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703320"/>
            <a:ext cx="3776472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정정 후 (정답)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60520"/>
            <a:ext cx="3776472" cy="10972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+9.0%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486400"/>
            <a:ext cx="3776472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1월 → 3월 증감률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거래처 순위도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뒤집힙니다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2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2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5교시 · 이상값 헌터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56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5394960" cy="4434840"/>
          </a:xfrm>
          <a:prstGeom prst="roundRect">
            <a:avLst>
              <a:gd name="adj" fmla="val 3711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20240"/>
            <a:ext cx="2757169" cy="3657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2757169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오류 포함  (단위: 백만 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여수유통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2542032"/>
            <a:ext cx="2926080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EC4899"/>
              </a:gs>
              <a:gs pos="100000">
                <a:srgbClr val="FB718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468880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62.05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광주물산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200400"/>
            <a:ext cx="1994733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2133" y="3127248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42.30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85616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순천마트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3858768"/>
            <a:ext cx="1629267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6667" y="3785616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34.55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43984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목포상사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517136"/>
            <a:ext cx="1426493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83893" y="4443984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30.25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02352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광양상사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5175504"/>
            <a:ext cx="702164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59564" y="5102352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50292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1위: 여수유통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1783080"/>
            <a:ext cx="5394960" cy="4434840"/>
          </a:xfrm>
          <a:prstGeom prst="roundRect">
            <a:avLst>
              <a:gd name="adj" fmla="val 3711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73952" y="1920240"/>
            <a:ext cx="256667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1920240"/>
            <a:ext cx="2566670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정정 후  (단위: 백만 원)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2468880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광주물산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08392" y="2542032"/>
            <a:ext cx="1994733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48845" y="2468880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42.30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3127248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순천마트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08392" y="3200400"/>
            <a:ext cx="1629267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3379" y="3127248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34.55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3785616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목포상사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08392" y="3858768"/>
            <a:ext cx="1426493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0605" y="3785616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30.25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4443984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여수유통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08392" y="4517136"/>
            <a:ext cx="888905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EC4899"/>
              </a:gs>
              <a:gs pos="100000">
                <a:srgbClr val="FB718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3017" y="4443984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18.85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2" y="5102352"/>
            <a:ext cx="12344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광양상사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08392" y="5175504"/>
            <a:ext cx="702164" cy="402336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6276" y="5102352"/>
            <a:ext cx="9144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14.89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8232" y="5760720"/>
            <a:ext cx="50292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1위: 광주물산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 보고용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원페이지 보고서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Canvas로 한 번에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9926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9926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5교시 · 이상값 헌터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57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7589520" cy="4434840"/>
          </a:xfrm>
          <a:prstGeom prst="roundRect">
            <a:avLst>
              <a:gd name="adj" fmla="val 4536"/>
            </a:avLst>
          </a:prstGeom>
          <a:solidFill>
            <a:srgbClr val="0B0A1F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7223760" cy="502920"/>
          </a:xfrm>
          <a:prstGeom prst="roundRect">
            <a:avLst>
              <a:gd name="adj" fmla="val 21818"/>
            </a:avLst>
          </a:prstGeom>
          <a:gradFill rotWithShape="1">
            <a:gsLst>
              <a:gs pos="0">
                <a:srgbClr val="8B5CF6"/>
              </a:gs>
              <a:gs pos="100000">
                <a:srgbClr val="38BDF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20240"/>
            <a:ext cx="694944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1~3월 매출 보고 (가상 데이터)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A16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78608"/>
            <a:ext cx="22860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총 매출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22860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1억 4,084만 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5603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A164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578608"/>
            <a:ext cx="22860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3월 vs 1월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80360"/>
            <a:ext cx="22860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+9.0%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25603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A1640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578608"/>
            <a:ext cx="22860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1위 거래처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880360"/>
            <a:ext cx="22860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광주물산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1188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" y="4100169"/>
            <a:ext cx="731520" cy="974750"/>
          </a:xfrm>
          <a:prstGeom prst="roundRect">
            <a:avLst>
              <a:gd name="adj" fmla="val 75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57400" y="4067749"/>
            <a:ext cx="731520" cy="1007170"/>
          </a:xfrm>
          <a:prstGeom prst="roundRect">
            <a:avLst>
              <a:gd name="adj" fmla="val 75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08960" y="4012852"/>
            <a:ext cx="731520" cy="1062067"/>
          </a:xfrm>
          <a:prstGeom prst="roundRect">
            <a:avLst>
              <a:gd name="adj" fmla="val 75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1월      2월      3월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6118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7033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광주물산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3767328"/>
            <a:ext cx="2103120" cy="237744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17880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순천마트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4242816"/>
            <a:ext cx="1717796" cy="237744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65429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목포상사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0680" y="4718304"/>
            <a:ext cx="1504004" cy="237744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5440680"/>
            <a:ext cx="7223760" cy="594360"/>
          </a:xfrm>
          <a:prstGeom prst="roundRect">
            <a:avLst>
              <a:gd name="adj" fmla="val 15384"/>
            </a:avLst>
          </a:prstGeom>
          <a:solidFill>
            <a:srgbClr val="241E5A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440680"/>
            <a:ext cx="69494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데이터 점검: 3월 여수유통 스마트조명 48,000,000 → 4,800,000 정정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1783080"/>
            <a:ext cx="3227832" cy="4434840"/>
          </a:xfrm>
          <a:prstGeom prst="roundRect">
            <a:avLst>
              <a:gd name="adj" fmla="val 5099"/>
            </a:avLst>
          </a:prstGeom>
          <a:solidFill>
            <a:srgbClr val="241E5A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1874519"/>
            <a:ext cx="29260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Canvas에 이렇게!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423160"/>
            <a:ext cx="2880360" cy="3017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Gemini → Canvas 선택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순수 HTML·CSS·SVG로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파란·흰색 톤, 큰 글씨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숫자는 바꾸지 말 것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  모바일에서도 보기 좋게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5486400"/>
            <a:ext cx="1871979" cy="365760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5486400"/>
            <a:ext cx="1871979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※ 화면은 구성 예시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sec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931920"/>
            <a:ext cx="7680960" cy="1280160"/>
          </a:xfrm>
        </p:spPr>
        <p:txBody>
          <a:bodyPr wrap="square" lIns="4572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홍보팀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</a:t>
            </a:r>
          </a:p>
        </p:txBody>
      </p:sp>
      <p:pic>
        <p:nvPicPr>
          <p:cNvPr id="6" name="Picture 5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004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14400"/>
            <a:ext cx="594360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583680" cy="50292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680960" cy="54864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 회사 강점을 고객의 언어로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897880"/>
            <a:ext cx="239903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97880"/>
            <a:ext cx="239903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15:00 ~ 15:50 · 50분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29000" cy="4754880"/>
          </a:xfrm>
          <a:prstGeom prst="roundRect">
            <a:avLst>
              <a:gd name="adj" fmla="val 7466"/>
            </a:avLst>
          </a:prstGeom>
          <a:solidFill>
            <a:srgbClr val="0B0A1F">
              <a:alpha val="55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292608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이번 교시에 하는 일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192023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3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2879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특징 → 고객 혜택 바꾸기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288035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5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88920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이미지 스타일 가이드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84047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7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4903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카드뉴스 5장 조립 (구글 슬라이드)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0" y="480059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80059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0915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 미션 1개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58 / 81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영상으로 할 수 있는 일 </a:t>
            </a:r>
            <a:r>
              <a:rPr sz="34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Top 10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우리 회사는?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6교시 · 홍보팀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59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회사 소개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108960"/>
            <a:ext cx="76708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08960"/>
            <a:ext cx="76708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30초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1783080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6080" y="192024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514600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제품 소개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108960"/>
            <a:ext cx="76708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108960"/>
            <a:ext cx="76708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15초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1783080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66360" y="192024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514600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신제품 티저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3108960"/>
            <a:ext cx="76708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3108960"/>
            <a:ext cx="76708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10초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1783080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06640" y="1920240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514600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채용 홍보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3108960"/>
            <a:ext cx="76708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108960"/>
            <a:ext cx="76708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30초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1783080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46920" y="192024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2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514600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 수칙 안내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12680" y="3108960"/>
            <a:ext cx="76708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12680" y="3108960"/>
            <a:ext cx="76708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30초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721608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" y="3858768"/>
            <a:ext cx="502920" cy="50292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8587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453128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교육·매뉴얼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" y="5047488"/>
            <a:ext cx="67183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5047488"/>
            <a:ext cx="67183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1분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88920" y="3721608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926080" y="3858768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0" y="38587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4453128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행사 스케치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1840" y="5047488"/>
            <a:ext cx="76708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5047488"/>
            <a:ext cx="76708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30초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0" y="3721608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166360" y="3858768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66360" y="38587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4453128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 후기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32120" y="5047488"/>
            <a:ext cx="76708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32120" y="5047488"/>
            <a:ext cx="76708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20초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69480" y="3721608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406640" y="3858768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06640" y="38587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4453128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명절·기념일 인사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0" y="5047488"/>
            <a:ext cx="76708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0" y="5047488"/>
            <a:ext cx="76708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10초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9760" y="3721608"/>
            <a:ext cx="2103120" cy="1783080"/>
          </a:xfrm>
          <a:prstGeom prst="roundRect">
            <a:avLst>
              <a:gd name="adj" fmla="val 9230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646920" y="3858768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38587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4453128"/>
            <a:ext cx="19202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사내 공지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12680" y="5047488"/>
            <a:ext cx="767080" cy="329184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12680" y="5047488"/>
            <a:ext cx="76708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20초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 회사에서 오늘 당장 만들 수 있는 것 1개에 동그라미!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특징을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고객이 얻는 혜택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 말로 바꾸기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6교시 · 홍보팀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60 / 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특징 (우리가 하는 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691640"/>
            <a:ext cx="45720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혜택 (고객이 얻는 것)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03120"/>
            <a:ext cx="4206240" cy="1143000"/>
          </a:xfrm>
          <a:prstGeom prst="roundRect">
            <a:avLst>
              <a:gd name="adj" fmla="val 14399"/>
            </a:avLst>
          </a:prstGeom>
          <a:solidFill>
            <a:srgbClr val="1A1640"/>
          </a:solidFill>
          <a:ln w="12700">
            <a:solidFill>
              <a:srgbClr val="B4B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4206240" cy="11430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당일 로스팅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2040" y="2423160"/>
            <a:ext cx="640080" cy="50292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0" y="2103120"/>
            <a:ext cx="5971032" cy="1143000"/>
          </a:xfrm>
          <a:prstGeom prst="roundRect">
            <a:avLst>
              <a:gd name="adj" fmla="val 14399"/>
            </a:avLst>
          </a:prstGeom>
          <a:solidFill>
            <a:srgbClr val="241E5A"/>
          </a:solidFill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103120"/>
            <a:ext cx="5623560" cy="11430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오늘 볶은 원두의 향을 그대로 마셔요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4206240" cy="1143000"/>
          </a:xfrm>
          <a:prstGeom prst="roundRect">
            <a:avLst>
              <a:gd name="adj" fmla="val 14399"/>
            </a:avLst>
          </a:prstGeom>
          <a:solidFill>
            <a:srgbClr val="1A1640"/>
          </a:solidFill>
          <a:ln w="12700">
            <a:solidFill>
              <a:srgbClr val="B4B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29000"/>
            <a:ext cx="4206240" cy="11430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바다 보이는 창가석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92040" y="3749039"/>
            <a:ext cx="640080" cy="50292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0" y="3429000"/>
            <a:ext cx="5971032" cy="1143000"/>
          </a:xfrm>
          <a:prstGeom prst="roundRect">
            <a:avLst>
              <a:gd name="adj" fmla="val 14399"/>
            </a:avLst>
          </a:prstGeom>
          <a:solidFill>
            <a:srgbClr val="241E5A"/>
          </a:solidFill>
          <a:ln w="317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3429000"/>
            <a:ext cx="5623560" cy="11430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점심시간, 바다 보며 10분 쉬어가요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79"/>
            <a:ext cx="4206240" cy="1143000"/>
          </a:xfrm>
          <a:prstGeom prst="roundRect">
            <a:avLst>
              <a:gd name="adj" fmla="val 14399"/>
            </a:avLst>
          </a:prstGeom>
          <a:solidFill>
            <a:srgbClr val="1A1640"/>
          </a:solidFill>
          <a:ln w="12700">
            <a:solidFill>
              <a:srgbClr val="B4B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54879"/>
            <a:ext cx="4206240" cy="11430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단체 주문 가능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892040" y="5074919"/>
            <a:ext cx="640080" cy="50292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0" y="4754879"/>
            <a:ext cx="5971032" cy="1143000"/>
          </a:xfrm>
          <a:prstGeom prst="roundRect">
            <a:avLst>
              <a:gd name="adj" fmla="val 14399"/>
            </a:avLst>
          </a:prstGeom>
          <a:solidFill>
            <a:srgbClr val="241E5A"/>
          </a:solidFill>
          <a:ln w="317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754879"/>
            <a:ext cx="5623560" cy="11430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회의·모임 커피, 한 번에 준비 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※ 가상 카페 "여수 바다 로스터스" 예시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카드뉴스 </a:t>
            </a:r>
            <a:r>
              <a:rPr sz="34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5장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공식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6교시 · 홍보팀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61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1737360"/>
            <a:ext cx="1495806" cy="3657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37360"/>
            <a:ext cx="1495806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 · 고객 고민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40280"/>
            <a:ext cx="2103120" cy="292608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1E1850"/>
              </a:gs>
              <a:gs pos="100000">
                <a:srgbClr val="2E2770"/>
              </a:gs>
            </a:gsLst>
            <a:lin ang="5400000" scaled="0"/>
          </a:gra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377440"/>
            <a:ext cx="1828800" cy="123444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22D3EE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1920240" cy="12801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점심, 갈 곳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없나요?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1528" y="1737360"/>
            <a:ext cx="1076706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8" y="1737360"/>
            <a:ext cx="1076706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 · 해결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2240280"/>
            <a:ext cx="2103120" cy="292608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1E1850"/>
              </a:gs>
              <a:gs pos="100000">
                <a:srgbClr val="2E2770"/>
              </a:gs>
            </a:gsLst>
            <a:lin ang="5400000" scaled="0"/>
          </a:gra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44368" y="2377440"/>
            <a:ext cx="1828800" cy="123444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8648" y="3749039"/>
            <a:ext cx="1920240" cy="12801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바다 앞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10분 휴식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1737360"/>
            <a:ext cx="1495806" cy="3657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0096" y="1737360"/>
            <a:ext cx="1495806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 · 핵심 제품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5776" y="2240280"/>
            <a:ext cx="2103120" cy="292608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1E1850"/>
              </a:gs>
              <a:gs pos="100000">
                <a:srgbClr val="2E2770"/>
              </a:gs>
            </a:gsLst>
            <a:lin ang="5400000" scaled="0"/>
          </a:gra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02936" y="2377440"/>
            <a:ext cx="1828800" cy="123444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A78BFA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7216" y="3749039"/>
            <a:ext cx="1920240" cy="12801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시그니처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노을 라떼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98664" y="1737360"/>
            <a:ext cx="1495806" cy="36576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98664" y="1737360"/>
            <a:ext cx="1495806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 · 신뢰 근거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240280"/>
            <a:ext cx="2103120" cy="292608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1E1850"/>
              </a:gs>
              <a:gs pos="100000">
                <a:srgbClr val="2E2770"/>
              </a:gs>
            </a:gsLst>
            <a:lin ang="5400000" scaled="0"/>
          </a:gra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61504" y="2377440"/>
            <a:ext cx="1828800" cy="123444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EC4899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15783" y="3749039"/>
            <a:ext cx="1920240" cy="12801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당일 로스팅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57232" y="1737360"/>
            <a:ext cx="1495806" cy="36576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1737360"/>
            <a:ext cx="1495806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 · 행동 유도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82912" y="2240280"/>
            <a:ext cx="2103120" cy="292608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1E1850"/>
              </a:gs>
              <a:gs pos="100000">
                <a:srgbClr val="2E2770"/>
              </a:gs>
            </a:gsLst>
            <a:lin ang="5400000" scaled="0"/>
          </a:gra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20072" y="2377440"/>
            <a:ext cx="1828800" cy="123444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FB923C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3749039"/>
            <a:ext cx="1920240" cy="12801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팔로우하면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1잔 서비스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21176"/>
            </a:avLst>
          </a:prstGeom>
          <a:solidFill>
            <a:srgbClr val="241E5A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장당  제목 </a:t>
            </a: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12자 이내</a:t>
            </a: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+  설명 </a:t>
            </a: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25자 이내</a:t>
            </a: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  과장·근거 없는 수치 금지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이미지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스타일 가이드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문장은 같고 스타일만 바꿔요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6교시 · 홍보팀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62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11091672" cy="822960"/>
          </a:xfrm>
          <a:prstGeom prst="roundRect">
            <a:avLst>
              <a:gd name="adj" fmla="val 20000"/>
            </a:avLst>
          </a:prstGeom>
          <a:solidFill>
            <a:srgbClr val="241E5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1060704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기본 문장:  "여수 바다가 보이는 카페 창가 자리, 따뜻한 커피 한 잔"  +  스타일 한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2670048" cy="342900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2395728" cy="1234440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FB923C"/>
              </a:gs>
              <a:gs pos="50000">
                <a:srgbClr val="EC4899"/>
              </a:gs>
              <a:gs pos="100000">
                <a:srgbClr val="3B2A6B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2487168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실사 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2395728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고급 잡지 사진 스타일,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따뜻한 노을 조명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669280"/>
            <a:ext cx="1194054" cy="347472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1194054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제품 · 매장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55848" y="2788920"/>
            <a:ext cx="2670048" cy="342900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93008" y="2926080"/>
            <a:ext cx="2395728" cy="1234440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A5B4FC"/>
              </a:gs>
              <a:gs pos="50000">
                <a:srgbClr val="F9A8D4"/>
              </a:gs>
              <a:gs pos="100000">
                <a:srgbClr val="BAE6FD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4206240"/>
            <a:ext cx="2487168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수채화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4663440"/>
            <a:ext cx="2395728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부드러운 수채화 일러스트,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파스텔 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3048" y="5669280"/>
            <a:ext cx="1086104" cy="347472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3048" y="5669280"/>
            <a:ext cx="1086104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감성 SNS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2788920"/>
            <a:ext cx="2670048" cy="342900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0216" y="2926080"/>
            <a:ext cx="2395728" cy="1234440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8B5CF6"/>
              </a:gs>
              <a:gs pos="50000">
                <a:srgbClr val="22D3EE"/>
              </a:gs>
              <a:gs pos="100000">
                <a:srgbClr val="34D3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5" y="4206240"/>
            <a:ext cx="2487168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3D 캐릭터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4663440"/>
            <a:ext cx="2395728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귀여운 3D 캐릭터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스타일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0255" y="5669280"/>
            <a:ext cx="1524254" cy="347472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0255" y="5669280"/>
            <a:ext cx="1524254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이벤트 · 어린이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0263" y="2788920"/>
            <a:ext cx="2670048" cy="342900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07424" y="2926080"/>
            <a:ext cx="2395728" cy="1234440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1D4ED8"/>
              </a:gs>
              <a:gs pos="50000">
                <a:srgbClr val="38BDF8"/>
              </a:gs>
              <a:gs pos="100000">
                <a:srgbClr val="E0F2F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61703" y="4206240"/>
            <a:ext cx="2487168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미니멀 포스터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4663440"/>
            <a:ext cx="2395728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단순한 색과 도형,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여백 많이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27463" y="5669280"/>
            <a:ext cx="1194054" cy="347472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3" y="5669280"/>
            <a:ext cx="1194054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공지 · 행사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무료 도구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만드는 홍보물 제작 라인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6교시 · 홍보팀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63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560320" cy="292608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2194560" cy="18288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글자 없는 1:1 이미지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"이미지 안에 글자 금지"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45536" y="3017520"/>
            <a:ext cx="18288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5848" y="1783080"/>
            <a:ext cx="2560320" cy="292608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38728" y="192024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구글 슬라이드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743200"/>
            <a:ext cx="2194560" cy="18288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파일 → 페이지 설정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맞춤 (1:1)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2744" y="3017520"/>
            <a:ext cx="18288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5" y="1783080"/>
            <a:ext cx="2560320" cy="292608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1920240"/>
            <a:ext cx="594360" cy="59436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글자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2743200"/>
            <a:ext cx="2194560" cy="18288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제목·설명을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텍스트 상자로 직접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59951" y="3017520"/>
            <a:ext cx="182880" cy="41148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70263" y="1783080"/>
            <a:ext cx="2560320" cy="2926080"/>
          </a:xfrm>
          <a:prstGeom prst="roundRect">
            <a:avLst>
              <a:gd name="adj" fmla="val 6428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53143" y="192024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3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8943" y="1920240"/>
            <a:ext cx="16916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다운로드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3" y="2743200"/>
            <a:ext cx="2194560" cy="18288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5장 복제 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PNG 또는 PDF로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16296"/>
            </a:avLst>
          </a:prstGeom>
          <a:gradFill rotWithShape="1">
            <a:gsLst>
              <a:gs pos="0">
                <a:srgbClr val="EC4899"/>
              </a:gs>
              <a:gs pos="100000">
                <a:srgbClr val="FB718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983480"/>
            <a:ext cx="10607040" cy="12344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주의!  AI 이미지 속 한글은 틀리기 쉬워요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글자는 이미지에 넣지 말고, 슬라이드에서 직접 입력하세요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영상 프롬프트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설계 공식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6칸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6교시 · 홍보팀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64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1691640" cy="868680"/>
          </a:xfrm>
          <a:prstGeom prst="roundRect">
            <a:avLst>
              <a:gd name="adj" fmla="val 18947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69164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주인공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1783080"/>
            <a:ext cx="2286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1783080"/>
            <a:ext cx="1691640" cy="868680"/>
          </a:xfrm>
          <a:prstGeom prst="roundRect">
            <a:avLst>
              <a:gd name="adj" fmla="val 18947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1783080"/>
            <a:ext cx="169164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행동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1783080"/>
            <a:ext cx="2286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783080"/>
            <a:ext cx="1691640" cy="868680"/>
          </a:xfrm>
          <a:prstGeom prst="roundRect">
            <a:avLst>
              <a:gd name="adj" fmla="val 18947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1783080"/>
            <a:ext cx="169164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장소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1" y="1783080"/>
            <a:ext cx="2286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199" y="1783080"/>
            <a:ext cx="1691640" cy="868680"/>
          </a:xfrm>
          <a:prstGeom prst="roundRect">
            <a:avLst>
              <a:gd name="adj" fmla="val 18947"/>
            </a:avLst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199" y="1783080"/>
            <a:ext cx="169164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카메라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1" y="1783080"/>
            <a:ext cx="2286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783080"/>
            <a:ext cx="1691640" cy="868680"/>
          </a:xfrm>
          <a:prstGeom prst="roundRect">
            <a:avLst>
              <a:gd name="adj" fmla="val 18947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9" y="1783080"/>
            <a:ext cx="169164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분위기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1783080"/>
            <a:ext cx="2286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1783080"/>
            <a:ext cx="1691640" cy="868680"/>
          </a:xfrm>
          <a:prstGeom prst="roundRect">
            <a:avLst>
              <a:gd name="adj" fmla="val 18947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1783080"/>
            <a:ext cx="169164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길이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926080"/>
            <a:ext cx="11091672" cy="2103120"/>
          </a:xfrm>
          <a:prstGeom prst="roundRect">
            <a:avLst>
              <a:gd name="adj" fmla="val 7826"/>
            </a:avLst>
          </a:prstGeom>
          <a:solidFill>
            <a:srgbClr val="241E5A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2971800"/>
            <a:ext cx="105156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예시 문장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429000"/>
            <a:ext cx="10515600" cy="1554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여수 항구 앞 작은 횟집 사장님이</a:t>
            </a: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활짝 웃으며 회 접시를 내민다</a:t>
            </a: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0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저녁 노을이 비치는 가게 앞</a:t>
            </a: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카메라가 천천히 가까이 다가간다</a:t>
            </a: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0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따뜻하고 정겨운 분위기</a:t>
            </a: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000" b="1" lang="ko-KR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8초, 가로 16:9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57800"/>
            <a:ext cx="1060704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참가자는 </a:t>
            </a:r>
            <a:r>
              <a:rPr sz="18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빈칸 6개를 채워 문장까지만</a:t>
            </a: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  영상 생성은 강사 시연으로 보여드립니다.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 미션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택1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그리고 무료 도구의 주의사항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6교시 · 홍보팀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65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456432" cy="3017520"/>
          </a:xfrm>
          <a:prstGeom prst="roundRect">
            <a:avLst>
              <a:gd name="adj" fmla="val 5454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40"/>
            <a:ext cx="24688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영상 프롬프트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30175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6칸 공식으로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문장 완성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06240"/>
            <a:ext cx="1400556" cy="384048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1400556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강사가 시연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1" y="1783080"/>
            <a:ext cx="3456432" cy="3017520"/>
          </a:xfrm>
          <a:prstGeom prst="roundRect">
            <a:avLst>
              <a:gd name="adj" fmla="val 5454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53712" y="192024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1920240"/>
            <a:ext cx="24688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20초 소개 노래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1" y="2743200"/>
            <a:ext cx="30175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가사(한글+영어)까지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Suno는 강사 시연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9431" y="4206240"/>
            <a:ext cx="1819656" cy="384048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4206240"/>
            <a:ext cx="1819656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무료 곡은 비상업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1783080"/>
            <a:ext cx="3456432" cy="3017520"/>
          </a:xfrm>
          <a:prstGeom prst="roundRect">
            <a:avLst>
              <a:gd name="adj" fmla="val 5454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75903" y="192024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3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1920240"/>
            <a:ext cx="246888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동화책 만들기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2743200"/>
            <a:ext cx="30175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 회사 이야기를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 Storybook으로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1624" y="4206240"/>
            <a:ext cx="2327655" cy="384048"/>
          </a:xfrm>
          <a:prstGeom prst="roundRect">
            <a:avLst>
              <a:gd name="adj" fmla="val 50000"/>
            </a:avLst>
          </a:prstGeom>
          <a:solidFill>
            <a:srgbClr val="2E277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1624" y="4206240"/>
            <a:ext cx="2327655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개인 Gmail · 18세 이상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13846"/>
            </a:avLst>
          </a:prstGeom>
          <a:solidFill>
            <a:srgbClr val="241E5A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29200"/>
            <a:ext cx="10607040" cy="11887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무료 도구 주의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Suno 무료 곡은 개인·비상업용  ·  Google Vids 개인 계정은 AI 생성 월 6회  ·  Storybook은 개인 계정만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홍보 문구 </a:t>
            </a:r>
            <a:r>
              <a:rPr sz="34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과장·허위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점검: AI에게 검수시키기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15735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15735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6교시 · 홍보팀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66 / 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위험한 표현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36576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안전한 대체 표현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03120"/>
            <a:ext cx="3566160" cy="868680"/>
          </a:xfrm>
          <a:prstGeom prst="roundRect">
            <a:avLst>
              <a:gd name="adj" fmla="val 16842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103120"/>
            <a:ext cx="274320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최고의 커피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06240" y="2304288"/>
            <a:ext cx="502920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2103120"/>
            <a:ext cx="3840480" cy="868680"/>
          </a:xfrm>
          <a:prstGeom prst="roundRect">
            <a:avLst>
              <a:gd name="adj" fmla="val 16842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103120"/>
            <a:ext cx="356616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당일 로스팅한 커피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79"/>
            <a:ext cx="3566160" cy="868680"/>
          </a:xfrm>
          <a:prstGeom prst="roundRect">
            <a:avLst>
              <a:gd name="adj" fmla="val 16842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333756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37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154679"/>
            <a:ext cx="274320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여수 유일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06240" y="3355848"/>
            <a:ext cx="502920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46320" y="3154679"/>
            <a:ext cx="3840480" cy="868680"/>
          </a:xfrm>
          <a:prstGeom prst="roundRect">
            <a:avLst>
              <a:gd name="adj" fmla="val 16842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154679"/>
            <a:ext cx="356616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여수 돌산 바다 앞 카페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06240"/>
            <a:ext cx="3566160" cy="868680"/>
          </a:xfrm>
          <a:prstGeom prst="roundRect">
            <a:avLst>
              <a:gd name="adj" fmla="val 16842"/>
            </a:avLst>
          </a:prstGeom>
          <a:solidFill>
            <a:srgbClr val="1A1640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8912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89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206240"/>
            <a:ext cx="274320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100% 만족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206240" y="4407407"/>
            <a:ext cx="502920" cy="45720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46320" y="4206240"/>
            <a:ext cx="3840480" cy="868680"/>
          </a:xfrm>
          <a:prstGeom prst="roundRect">
            <a:avLst>
              <a:gd name="adj" fmla="val 16842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4206240"/>
            <a:ext cx="356616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고객 후기 (근거 있을 때만)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1783080"/>
            <a:ext cx="2679192" cy="3337560"/>
          </a:xfrm>
          <a:prstGeom prst="roundRect">
            <a:avLst>
              <a:gd name="adj" fmla="val 6143"/>
            </a:avLst>
          </a:prstGeom>
          <a:solidFill>
            <a:srgbClr val="241E5A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1828800"/>
            <a:ext cx="242316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함께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331720"/>
            <a:ext cx="2423160" cy="2743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없는 수치·수상 금지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이벤트 조건 정확히 표시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이미지임을 표시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8947"/>
            </a:avLst>
          </a:prstGeom>
          <a:solidFill>
            <a:srgbClr val="2E277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※ 법률 자문이 아닌 점검용입니다. 실존 인물 사진·유명 캐릭터·타사 로고가 들어간 이미지는 홍보물에 쓰지 마세요.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sec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931920"/>
            <a:ext cx="7680960" cy="1280160"/>
          </a:xfrm>
        </p:spPr>
        <p:txBody>
          <a:bodyPr wrap="square" lIns="4572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앱·비서·졸업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</a:t>
            </a:r>
          </a:p>
        </p:txBody>
      </p:sp>
      <p:pic>
        <p:nvPicPr>
          <p:cNvPr id="6" name="Picture 5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004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14400"/>
            <a:ext cx="594360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583680" cy="50292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680960" cy="54864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말로 시키면 앱이 되고, 반복 업무는 비서가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897880"/>
            <a:ext cx="239903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97880"/>
            <a:ext cx="239903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16:00 ~ 17:00 · 60분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29000" cy="4754880"/>
          </a:xfrm>
          <a:prstGeom prst="roundRect">
            <a:avLst>
              <a:gd name="adj" fmla="val 7466"/>
            </a:avLst>
          </a:prstGeom>
          <a:solidFill>
            <a:srgbClr val="0B0A1F">
              <a:alpha val="55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292608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이번 교시에 하는 일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192023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3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2879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웹앱 만들기 (Gemini Canvas)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288035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5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88920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업무비서 만들기 (프로젝트 / Gem)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84047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7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4903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30일 실행계획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0" y="4800599"/>
            <a:ext cx="420624" cy="420624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80059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09159"/>
            <a:ext cx="2514600" cy="86868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졸업식과 시상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67 / 81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바이브코딩: 코드를 몰라도,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말로 시키고 말로 고칩니다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68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2103120" cy="27432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05740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05740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178308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"오늘 할 일 우선순위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앱이 있으면…"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679192" y="3017520"/>
            <a:ext cx="109728" cy="36576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07208" y="1920240"/>
            <a:ext cx="2103120" cy="27432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44368" y="20574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368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05740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프롬프트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2834640"/>
            <a:ext cx="178308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 주문서 7칸으로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자세히 설명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37760" y="3017520"/>
            <a:ext cx="109728" cy="36576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65776" y="1920240"/>
            <a:ext cx="2103120" cy="27432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02936" y="205740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3016" y="205740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Canvas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6" y="2834640"/>
            <a:ext cx="178308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코드를 쓰고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앱을 만듭니다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196328" y="3017520"/>
            <a:ext cx="109728" cy="36576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24344" y="1920240"/>
            <a:ext cx="2103120" cy="27432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61504" y="2057400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1504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3" y="205740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미리보기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7223" y="2834640"/>
            <a:ext cx="178308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바로 눌러보며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동작 확인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454896" y="3017520"/>
            <a:ext cx="109728" cy="36576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82912" y="1920240"/>
            <a:ext cx="2103120" cy="274320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20072" y="205740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0072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0152" y="205740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말로 수정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2834640"/>
            <a:ext cx="178308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"이렇게 바꿔줘"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반복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789920" y="4709160"/>
            <a:ext cx="0" cy="457200"/>
          </a:xfrm>
          <a:prstGeom prst="line">
            <a:avLst/>
          </a:prstGeom>
          <a:ln w="3810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286000" y="5166360"/>
            <a:ext cx="8503920" cy="0"/>
          </a:xfrm>
          <a:prstGeom prst="line">
            <a:avLst/>
          </a:prstGeom>
          <a:ln w="3810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286000" y="4709160"/>
            <a:ext cx="0" cy="457200"/>
          </a:xfrm>
          <a:prstGeom prst="line">
            <a:avLst/>
          </a:prstGeom>
          <a:ln w="38100">
            <a:solidFill>
              <a:srgbClr val="FB92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743200" y="5212080"/>
            <a:ext cx="77724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마음에 안 들면 말로 고치기: 4 → 5 → 4 반복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도구: Gemini Canvas (무료)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 공유 전에 </a:t>
            </a:r>
            <a:r>
              <a:rPr sz="34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꼭 알아둘 3가지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69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3456432" cy="3657600"/>
          </a:xfrm>
          <a:prstGeom prst="roundRect">
            <a:avLst>
              <a:gd name="adj" fmla="val 4761"/>
            </a:avLst>
          </a:prstGeom>
          <a:solidFill>
            <a:srgbClr val="1A1640"/>
          </a:solidFill>
          <a:ln w="317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11680"/>
            <a:ext cx="685800" cy="68580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31089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업무 데이터·개인정보 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301752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공유한 앱은 링크를 가진 누구나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데이터를 보고 수정할 수 있어요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1" y="1828800"/>
            <a:ext cx="3456432" cy="3657600"/>
          </a:xfrm>
          <a:prstGeom prst="roundRect">
            <a:avLst>
              <a:gd name="adj" fmla="val 4761"/>
            </a:avLst>
          </a:prstGeom>
          <a:solidFill>
            <a:srgbClr val="1A1640"/>
          </a:solidFill>
          <a:ln w="3175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53712" y="2011680"/>
            <a:ext cx="685800" cy="68580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834640"/>
            <a:ext cx="31089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링크는 브라우저에서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3840480"/>
            <a:ext cx="301752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gemini.google.com에서만 열려요.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모바일 앱에서는 열리지 않아요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3" y="1828800"/>
            <a:ext cx="3456432" cy="3657600"/>
          </a:xfrm>
          <a:prstGeom prst="roundRect">
            <a:avLst>
              <a:gd name="adj" fmla="val 4761"/>
            </a:avLst>
          </a:prstGeom>
          <a:solidFill>
            <a:srgbClr val="1A1640"/>
          </a:solidFill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75903" y="2011680"/>
            <a:ext cx="685800" cy="6858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3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3" y="2834640"/>
            <a:ext cx="31089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저장은 미리 테스트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3840480"/>
            <a:ext cx="301752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새로고침해도 남는지 확인하고,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 남으면 샘플로 시연하기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F4444"/>
              </a:gs>
              <a:gs pos="100000">
                <a:srgbClr val="FB718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11091672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앱에는 연습용 가짜 데이터만 넣으세요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 주문서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7칸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한 줄로 시키지 말고 설계도처럼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70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670048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196596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목적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22860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무엇을 해결하나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783080"/>
            <a:ext cx="2670048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8728" y="1965960"/>
            <a:ext cx="566928" cy="5669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96596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697480"/>
            <a:ext cx="22860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누가, 어떤 수준으로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1783080"/>
            <a:ext cx="2670048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45936" y="1965960"/>
            <a:ext cx="566928" cy="5669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196596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5" y="2697480"/>
            <a:ext cx="22860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무엇이 어디에 보이나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3" y="1783080"/>
            <a:ext cx="2670048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53143" y="1965960"/>
            <a:ext cx="566928" cy="56692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3" y="196596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점수 규칙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3" y="2697480"/>
            <a:ext cx="22860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 방법을 숫자로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49039"/>
            <a:ext cx="2670048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3931920"/>
            <a:ext cx="566928" cy="566928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9319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19" y="393192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기술 조건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663440"/>
            <a:ext cx="22860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HTML 하나, 외부 도구 금지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3749039"/>
            <a:ext cx="2670048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38728" y="3931920"/>
            <a:ext cx="566928" cy="566928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8728" y="39319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393192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4448" y="4663440"/>
            <a:ext cx="22860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새로고침해도 남게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5" y="3749039"/>
            <a:ext cx="2670048" cy="1828800"/>
          </a:xfrm>
          <a:prstGeom prst="roundRect">
            <a:avLst>
              <a:gd name="adj" fmla="val 9000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45936" y="3931920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39319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6" y="3931920"/>
            <a:ext cx="17373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샘플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655" y="4663440"/>
            <a:ext cx="22860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처음 보이는 예시 3개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70263" y="3749039"/>
            <a:ext cx="2670048" cy="182880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61703" y="3840479"/>
            <a:ext cx="2487168" cy="1645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Gemini에서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Canvas 선택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붙여넣기!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완성 프롬프트는 강의안 파일 P7-1에서 복사해서 쓰세요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"오늘 뭐부터 하지?"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앱 설계도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71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737360"/>
            <a:ext cx="3383280" cy="4526280"/>
          </a:xfrm>
          <a:prstGeom prst="roundRect">
            <a:avLst>
              <a:gd name="adj" fmla="val 10810"/>
            </a:avLst>
          </a:prstGeom>
          <a:solidFill>
            <a:srgbClr val="0B0A1F"/>
          </a:solidFill>
          <a:ln w="381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965960"/>
            <a:ext cx="3017520" cy="640080"/>
          </a:xfrm>
          <a:prstGeom prst="roundRect">
            <a:avLst>
              <a:gd name="adj" fmla="val 21428"/>
            </a:avLst>
          </a:prstGeom>
          <a:gradFill rotWithShape="1">
            <a:gsLst>
              <a:gs pos="0">
                <a:srgbClr val="8B5CF6"/>
              </a:gs>
              <a:gs pos="100000">
                <a:srgbClr val="38BDF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65960"/>
            <a:ext cx="301752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뭐부터 하지?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788920"/>
            <a:ext cx="3017520" cy="960120"/>
          </a:xfrm>
          <a:prstGeom prst="roundRect">
            <a:avLst>
              <a:gd name="adj" fmla="val 13333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2852927"/>
            <a:ext cx="558700" cy="23774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52927"/>
            <a:ext cx="55870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TOP3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9067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거래처 메일 회신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1071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긴급 상 · 중요 중 · 오늘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971800"/>
            <a:ext cx="1005840" cy="54864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13점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886200"/>
            <a:ext cx="3017520" cy="960120"/>
          </a:xfrm>
          <a:prstGeom prst="roundRect">
            <a:avLst>
              <a:gd name="adj" fmla="val 13333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3950208"/>
            <a:ext cx="558700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50208"/>
            <a:ext cx="55870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TOP3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8795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견적서 검토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079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긴급 중 · 중요 상 · 내일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069080"/>
            <a:ext cx="1005840" cy="54864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12점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983479"/>
            <a:ext cx="3017520" cy="960120"/>
          </a:xfrm>
          <a:prstGeom prst="roundRect">
            <a:avLst>
              <a:gd name="adj" fmla="val 13333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5047488"/>
            <a:ext cx="558700" cy="23774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047488"/>
            <a:ext cx="55870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TOP3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85231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주간보고 작성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05271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긴급 중 · 중요 중 · 3일 이내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166359"/>
            <a:ext cx="1005840" cy="54864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9점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98932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남은 업무 3개 · 예상 소요시간 합계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1783080"/>
            <a:ext cx="7068312" cy="1965960"/>
          </a:xfrm>
          <a:prstGeom prst="roundRect">
            <a:avLst>
              <a:gd name="adj" fmla="val 8372"/>
            </a:avLst>
          </a:prstGeom>
          <a:solidFill>
            <a:srgbClr val="241E5A"/>
          </a:solidFill>
          <a:ln w="254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1828800"/>
            <a:ext cx="65836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점수 규칙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2286000"/>
            <a:ext cx="65836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 = 긴급도 × 2 + 중요도 × 2 + 마감 가산점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2971800"/>
            <a:ext cx="658368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긴급도·중요도: 상 3 · 중 2 · 하 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마감 가산점: 오늘 +3 · 내일 +2 · 3일 이내 +1 · 지남 +4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3977639"/>
            <a:ext cx="7068312" cy="2240280"/>
          </a:xfrm>
          <a:prstGeom prst="roundRect">
            <a:avLst>
              <a:gd name="adj" fmla="val 7346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4023360"/>
            <a:ext cx="65836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검증: 계산이 맞는지 직접 확인!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4526280"/>
            <a:ext cx="6583680" cy="1645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긴급 상 · 중요 중 · 오늘 마감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× 2 + 2 × 2 + 3 = </a:t>
            </a:r>
            <a:r>
              <a:rPr sz="19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13점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앱에 다른 숫자가 나오면 규칙을 말해주고 수정 요청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디버깅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은 오류를 복사해서 붙여넣기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72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4297680" cy="1920240"/>
          </a:xfrm>
          <a:prstGeom prst="roundRect">
            <a:avLst>
              <a:gd name="adj" fmla="val 8571"/>
            </a:avLst>
          </a:prstGeom>
          <a:solidFill>
            <a:srgbClr val="1A1640"/>
          </a:solidFill>
          <a:ln w="317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011680"/>
            <a:ext cx="594360" cy="59436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116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011680"/>
            <a:ext cx="32918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87171"/>
                </a:solidFill>
                <a:latin typeface="맑은 고딕"/>
                <a:ea typeface="맑은 고딕"/>
                <a:cs typeface="맑은 고딕"/>
              </a:rPr>
              <a:t>이상을 발견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43200"/>
            <a:ext cx="38404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앱이 멈추거나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점수가 이상해요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4297680" cy="1920240"/>
          </a:xfrm>
          <a:prstGeom prst="roundRect">
            <a:avLst>
              <a:gd name="adj" fmla="val 8571"/>
            </a:avLst>
          </a:prstGeom>
          <a:solidFill>
            <a:srgbClr val="1A1640"/>
          </a:solidFill>
          <a:ln w="3175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2011680"/>
            <a:ext cx="594360" cy="59436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11680"/>
            <a:ext cx="32918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메시지 복사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43200"/>
            <a:ext cx="38404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화면의 오류 메시지를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그대로 복사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69080"/>
            <a:ext cx="4297680" cy="1920240"/>
          </a:xfrm>
          <a:prstGeom prst="roundRect">
            <a:avLst>
              <a:gd name="adj" fmla="val 8571"/>
            </a:avLst>
          </a:prstGeom>
          <a:solidFill>
            <a:srgbClr val="1A1640"/>
          </a:solidFill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3680" y="425196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51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51960"/>
            <a:ext cx="32918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말로 요청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983480"/>
            <a:ext cx="38404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"이런 오류가 나요.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고쳐줘" + 붙여넣기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069080"/>
            <a:ext cx="4297680" cy="1920240"/>
          </a:xfrm>
          <a:prstGeom prst="roundRect">
            <a:avLst>
              <a:gd name="adj" fmla="val 8571"/>
            </a:avLst>
          </a:prstGeom>
          <a:solidFill>
            <a:srgbClr val="1A1640"/>
          </a:solidFill>
          <a:ln w="317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" y="425196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51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251960"/>
            <a:ext cx="329184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고쳐진 앱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983480"/>
            <a:ext cx="38404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수정해줘요.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다시 눌러보기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303520" y="2514600"/>
            <a:ext cx="1005840" cy="548640"/>
          </a:xfrm>
          <a:prstGeom prst="righ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8366760" y="3840480"/>
            <a:ext cx="548640" cy="274320"/>
          </a:xfrm>
          <a:prstGeom prst="downArrow">
            <a:avLst/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eft Arrow 32"/>
          <p:cNvSpPr/>
          <p:nvPr/>
        </p:nvSpPr>
        <p:spPr>
          <a:xfrm>
            <a:off x="5303520" y="4754880"/>
            <a:ext cx="1005840" cy="548640"/>
          </a:xfrm>
          <a:prstGeom prst="leftArrow">
            <a:avLst>
              <a:gd name="adj1" fmla="val 56000"/>
              <a:gd name="adj2" fmla="val 50000"/>
            </a:avLst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Up Arrow 33"/>
          <p:cNvSpPr/>
          <p:nvPr/>
        </p:nvSpPr>
        <p:spPr>
          <a:xfrm>
            <a:off x="2880360" y="3794760"/>
            <a:ext cx="548640" cy="274320"/>
          </a:xfrm>
          <a:prstGeom prst="upArrow">
            <a:avLst/>
          </a:prstGeom>
          <a:solidFill>
            <a:srgbClr val="B4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앱을 </a:t>
            </a:r>
            <a:r>
              <a:rPr sz="34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한 줄씩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업그레이드하기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73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456432" cy="3246120"/>
          </a:xfrm>
          <a:prstGeom prst="roundRect">
            <a:avLst>
              <a:gd name="adj" fmla="val 5070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310896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완료한 업무는 맨 아래로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11880"/>
            <a:ext cx="3017520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"완료한 업무는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맨 아래로 내려가게 해줘"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1" y="1783080"/>
            <a:ext cx="3456432" cy="3246120"/>
          </a:xfrm>
          <a:prstGeom prst="roundRect">
            <a:avLst>
              <a:gd name="adj" fmla="val 5070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53712" y="192024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697480"/>
            <a:ext cx="310896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TOP3 복사 버튼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3611880"/>
            <a:ext cx="3017520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"TOP3를 카톡으로 보낼 수 있는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텍스트로 복사되게 해줘"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3" y="1783080"/>
            <a:ext cx="3456432" cy="3246120"/>
          </a:xfrm>
          <a:prstGeom prst="roundRect">
            <a:avLst>
              <a:gd name="adj" fmla="val 5070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75903" y="192024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3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3" y="2697480"/>
            <a:ext cx="310896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내 업무 앱으로 변신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3611880"/>
            <a:ext cx="3017520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안전점검 체크리스트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방문일지 · 견적 계산기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7142"/>
            </a:avLst>
          </a:prstGeom>
          <a:solidFill>
            <a:srgbClr val="241E5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5486400"/>
            <a:ext cx="127762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127762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중급 도전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257800"/>
            <a:ext cx="914400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Google AI Studio Build 모드(무료)로 같은 앱을 만들어 보기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업무비서 만들기: </a:t>
            </a:r>
            <a:r>
              <a:rPr sz="34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또는 </a:t>
            </a:r>
            <a:r>
              <a:rPr sz="34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Gem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74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5394960" cy="3520440"/>
          </a:xfrm>
          <a:prstGeom prst="roundRect">
            <a:avLst>
              <a:gd name="adj" fmla="val 4675"/>
            </a:avLst>
          </a:prstGeom>
          <a:solidFill>
            <a:srgbClr val="1A1640"/>
          </a:solidFill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2024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2423160" cy="43891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ChatGPT 프로젝트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2651760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517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606040"/>
            <a:ext cx="434340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사이드바 → 프로젝트 → 새 프로젝트</a:t>
            </a:r>
          </a:p>
        </p:txBody>
      </p:sp>
      <p:sp>
        <p:nvSpPr>
          <p:cNvPr id="17" name="Oval 16"/>
          <p:cNvSpPr/>
          <p:nvPr/>
        </p:nvSpPr>
        <p:spPr>
          <a:xfrm>
            <a:off x="822959" y="3310128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1012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264408"/>
            <a:ext cx="434340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이름: 주간보고 비서</a:t>
            </a:r>
          </a:p>
        </p:txBody>
      </p:sp>
      <p:sp>
        <p:nvSpPr>
          <p:cNvPr id="20" name="Oval 19"/>
          <p:cNvSpPr/>
          <p:nvPr/>
        </p:nvSpPr>
        <p:spPr>
          <a:xfrm>
            <a:off x="822959" y="3968496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9684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922776"/>
            <a:ext cx="434340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지침 칸에 업무비서 지침 붙여넣기</a:t>
            </a:r>
          </a:p>
        </p:txBody>
      </p:sp>
      <p:sp>
        <p:nvSpPr>
          <p:cNvPr id="23" name="Oval 22"/>
          <p:cNvSpPr/>
          <p:nvPr/>
        </p:nvSpPr>
        <p:spPr>
          <a:xfrm>
            <a:off x="822959" y="4626864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62686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81144"/>
            <a:ext cx="434340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안에서 새 채팅 시작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1783080"/>
            <a:ext cx="5394960" cy="3520440"/>
          </a:xfrm>
          <a:prstGeom prst="roundRect">
            <a:avLst>
              <a:gd name="adj" fmla="val 4675"/>
            </a:avLst>
          </a:prstGeom>
          <a:solidFill>
            <a:srgbClr val="1A1640"/>
          </a:solidFill>
          <a:ln w="317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73952" y="1920240"/>
            <a:ext cx="1870709" cy="43891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1920240"/>
            <a:ext cx="1870709" cy="43891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Gemini Gem</a:t>
            </a:r>
          </a:p>
        </p:txBody>
      </p:sp>
      <p:sp>
        <p:nvSpPr>
          <p:cNvPr id="29" name="Oval 28"/>
          <p:cNvSpPr/>
          <p:nvPr/>
        </p:nvSpPr>
        <p:spPr>
          <a:xfrm>
            <a:off x="6519672" y="2651760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6517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2606040"/>
            <a:ext cx="434340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 탐색 → 새 Gem</a:t>
            </a:r>
          </a:p>
        </p:txBody>
      </p:sp>
      <p:sp>
        <p:nvSpPr>
          <p:cNvPr id="32" name="Oval 31"/>
          <p:cNvSpPr/>
          <p:nvPr/>
        </p:nvSpPr>
        <p:spPr>
          <a:xfrm>
            <a:off x="6519672" y="3310128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331012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3264408"/>
            <a:ext cx="434340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이름과 지침 입력</a:t>
            </a:r>
          </a:p>
        </p:txBody>
      </p:sp>
      <p:sp>
        <p:nvSpPr>
          <p:cNvPr id="35" name="Oval 34"/>
          <p:cNvSpPr/>
          <p:nvPr/>
        </p:nvSpPr>
        <p:spPr>
          <a:xfrm>
            <a:off x="6519672" y="3968496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39684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752" y="3922776"/>
            <a:ext cx="434340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미리보기로 테스트 후 </a:t>
            </a:r>
            <a:r>
              <a:rPr sz="17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38" name="Oval 37"/>
          <p:cNvSpPr/>
          <p:nvPr/>
        </p:nvSpPr>
        <p:spPr>
          <a:xfrm>
            <a:off x="6519672" y="4626864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462686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4581144"/>
            <a:ext cx="434340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대화에서 Gem 선택해 사용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21176"/>
            </a:avLst>
          </a:prstGeom>
          <a:solidFill>
            <a:srgbClr val="241E5A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참고: 개인 계정에서는 새 GPT를 만들 수 없어요. 무료로 쓰려면 </a:t>
            </a:r>
            <a:r>
              <a:rPr sz="16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 Gem으로!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업무비서 지침 </a:t>
            </a:r>
            <a:r>
              <a:rPr sz="34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5칸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주간보고 비서 예시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75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103120" cy="338328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92024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92024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1783080" cy="2377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주간 업무보고 비서 "아델"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1783080"/>
            <a:ext cx="2103120" cy="338328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4368" y="19202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192024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출력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2697480"/>
            <a:ext cx="1783080" cy="2377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개요 · 진행상황(표) · 문제점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향후계획 · 확인 필요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5776" y="1783080"/>
            <a:ext cx="2103120" cy="338328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02936" y="1920240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2936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3016" y="192024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6" y="2697480"/>
            <a:ext cx="1783080" cy="2377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숫자·날짜는 바꾸지 않기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없는 내용은 지어내지 않기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24344" y="1783080"/>
            <a:ext cx="2103120" cy="338328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61504" y="192024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192024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B923C"/>
                </a:solidFill>
                <a:latin typeface="맑은 고딕"/>
                <a:ea typeface="맑은 고딕"/>
                <a:cs typeface="맑은 고딕"/>
              </a:rPr>
              <a:t>질문 규칙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223" y="2697480"/>
            <a:ext cx="1783080" cy="2377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부족하면 작성 전에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 최대 3개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2" y="1783080"/>
            <a:ext cx="2103120" cy="3383280"/>
          </a:xfrm>
          <a:prstGeom prst="roundRect">
            <a:avLst>
              <a:gd name="adj" fmla="val 7826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20072" y="192024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0072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0152" y="192024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시작 방법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697480"/>
            <a:ext cx="1783080" cy="2377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"메모:" 라고 쓰고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내용을 붙여넣기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번 만들어 두면, 메모만 붙여넣으면 끝!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내일부터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30일</a:t>
            </a: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실행계획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76 / 81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2926080"/>
            <a:ext cx="10058400" cy="0"/>
          </a:xfrm>
          <a:prstGeom prst="line">
            <a:avLst/>
          </a:prstGeom>
          <a:ln w="50800">
            <a:solidFill>
              <a:srgbClr val="4A4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463040" y="260604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606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2670048" cy="2011680"/>
          </a:xfrm>
          <a:prstGeom prst="roundRect">
            <a:avLst>
              <a:gd name="adj" fmla="val 8181"/>
            </a:avLst>
          </a:prstGeom>
          <a:solidFill>
            <a:srgbClr val="1A1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2670048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1주차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2487168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가장 쉬운 것 1개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2487168" cy="777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메일 답장이나 공지문부터</a:t>
            </a:r>
          </a:p>
        </p:txBody>
      </p:sp>
      <p:sp>
        <p:nvSpPr>
          <p:cNvPr id="18" name="Oval 17"/>
          <p:cNvSpPr/>
          <p:nvPr/>
        </p:nvSpPr>
        <p:spPr>
          <a:xfrm>
            <a:off x="4270248" y="260604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606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5848" y="3383280"/>
            <a:ext cx="2670048" cy="2011680"/>
          </a:xfrm>
          <a:prstGeom prst="roundRect">
            <a:avLst>
              <a:gd name="adj" fmla="val 8181"/>
            </a:avLst>
          </a:prstGeom>
          <a:solidFill>
            <a:srgbClr val="1A164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3429000"/>
            <a:ext cx="2670048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8BDF8"/>
                </a:solidFill>
                <a:latin typeface="맑은 고딕"/>
                <a:ea typeface="맑은 고딕"/>
                <a:cs typeface="맑은 고딕"/>
              </a:rPr>
              <a:t>2주차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3931920"/>
            <a:ext cx="2487168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반복 업무를 비서에게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4526280"/>
            <a:ext cx="2487168" cy="777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주간보고 비서 만들기</a:t>
            </a:r>
          </a:p>
        </p:txBody>
      </p:sp>
      <p:sp>
        <p:nvSpPr>
          <p:cNvPr id="24" name="Oval 23"/>
          <p:cNvSpPr/>
          <p:nvPr/>
        </p:nvSpPr>
        <p:spPr>
          <a:xfrm>
            <a:off x="7077455" y="260604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7455" y="2606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5" y="3383280"/>
            <a:ext cx="2670048" cy="2011680"/>
          </a:xfrm>
          <a:prstGeom prst="roundRect">
            <a:avLst>
              <a:gd name="adj" fmla="val 8181"/>
            </a:avLst>
          </a:prstGeom>
          <a:solidFill>
            <a:srgbClr val="1A1640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3429000"/>
            <a:ext cx="2670048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3주차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5" y="3931920"/>
            <a:ext cx="2487168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팀에 공유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5" y="4526280"/>
            <a:ext cx="2487168" cy="777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프롬프트북을 돌려보기</a:t>
            </a:r>
          </a:p>
        </p:txBody>
      </p:sp>
      <p:sp>
        <p:nvSpPr>
          <p:cNvPr id="30" name="Oval 29"/>
          <p:cNvSpPr/>
          <p:nvPr/>
        </p:nvSpPr>
        <p:spPr>
          <a:xfrm>
            <a:off x="9884663" y="260604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84663" y="2606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0263" y="3383280"/>
            <a:ext cx="2670048" cy="2011680"/>
          </a:xfrm>
          <a:prstGeom prst="roundRect">
            <a:avLst>
              <a:gd name="adj" fmla="val 8181"/>
            </a:avLst>
          </a:prstGeom>
          <a:solidFill>
            <a:srgbClr val="1A1640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0263" y="3429000"/>
            <a:ext cx="2670048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4주차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3" y="3931920"/>
            <a:ext cx="2487168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재서 확인하고 개선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1703" y="4526280"/>
            <a:ext cx="2487168" cy="777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걸린 시간을 직접 기록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24000"/>
            </a:avLst>
          </a:prstGeom>
          <a:solidFill>
            <a:srgbClr val="241E5A"/>
          </a:solidFill>
          <a:ln w="12700">
            <a:solidFill>
              <a:srgbClr val="FFD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절감 시간은 단정하지 말고 </a:t>
            </a:r>
            <a:r>
              <a:rPr sz="17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직접 재서</a:t>
            </a: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확인하세요  ·  개인정보·기밀 주의는 계속!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졸업을 축하합니다! </a:t>
            </a:r>
            <a:r>
              <a:rPr sz="34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시상식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201803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201803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7교시 · 앱·비서·졸업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77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670048" cy="329184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317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35024" y="2057400"/>
            <a:ext cx="1097280" cy="10972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" y="20574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2670048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프롬프트 장인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2304288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6요소를 가장 정확히 쓴 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828800"/>
            <a:ext cx="2670048" cy="329184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317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42232" y="2057400"/>
            <a:ext cx="1097280" cy="10972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0574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337560"/>
            <a:ext cx="2670048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EC4899"/>
                </a:solidFill>
                <a:latin typeface="맑은 고딕"/>
                <a:ea typeface="맑은 고딕"/>
                <a:cs typeface="맑은 고딕"/>
              </a:rPr>
              <a:t>검수왕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3931920"/>
            <a:ext cx="2304288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AI의 오류를 가장 많이 찾은 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1828800"/>
            <a:ext cx="2670048" cy="329184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49440" y="2057400"/>
            <a:ext cx="1097280" cy="10972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0574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5" y="3337560"/>
            <a:ext cx="2670048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22D3EE"/>
                </a:solidFill>
                <a:latin typeface="맑은 고딕"/>
                <a:ea typeface="맑은 고딕"/>
                <a:cs typeface="맑은 고딕"/>
              </a:rPr>
              <a:t>아이디어상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931920"/>
            <a:ext cx="2304288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 회사 활용 아이디어 1등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3" y="1828800"/>
            <a:ext cx="2670048" cy="3291840"/>
          </a:xfrm>
          <a:prstGeom prst="roundRect">
            <a:avLst>
              <a:gd name="adj" fmla="val 6164"/>
            </a:avLst>
          </a:prstGeom>
          <a:solidFill>
            <a:srgbClr val="1A1640"/>
          </a:solidFill>
          <a:ln w="317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56647" y="2057400"/>
            <a:ext cx="1097280" cy="1097280"/>
          </a:xfrm>
          <a:prstGeom prst="ellipse">
            <a:avLst/>
          </a:prstGeom>
          <a:solidFill>
            <a:srgbClr val="FF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6647" y="20574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lang="ko-KR">
                <a:solidFill>
                  <a:srgbClr val="0B0A1F"/>
                </a:solidFill>
                <a:latin typeface="맑은 고딕"/>
                <a:ea typeface="맑은 고딕"/>
                <a:cs typeface="맑은 고딕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0263" y="3337560"/>
            <a:ext cx="2670048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도우미상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3931920"/>
            <a:ext cx="2304288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옆자리를 가장 잘 도운 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94960"/>
            <a:ext cx="11091672" cy="82296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아델 성장: Lv1 입사에서 Lv7 에이스까지!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0" y="1417320"/>
            <a:ext cx="6949440" cy="2103120"/>
          </a:xfrm>
        </p:spPr>
        <p:txBody>
          <a:bodyPr wrap="square" lIns="4572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AI는 우리 회사의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lang="ko-KR">
                <a:gradFill>
                  <a:gsLst>
                    <a:gs pos="0">
                      <a:srgbClr val="8B5CF6"/>
                    </a:gs>
                    <a:gs pos="50000">
                      <a:srgbClr val="EC4899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신입사원</a:t>
            </a: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입니다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57200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인공지능디지털연구소</a:t>
            </a:r>
          </a:p>
        </p:txBody>
      </p:sp>
      <p:pic>
        <p:nvPicPr>
          <p:cNvPr id="6" name="Picture 5" descr="face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916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480560"/>
            <a:ext cx="36576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최재향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AI강사 · AI영화감독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566160"/>
            <a:ext cx="6949440" cy="914400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시키는 것도, 확인하는 것도, 책임지는 것도 나. 그리고 오늘부터 나의 일을 덜어줄 에이스입니다.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572000"/>
            <a:ext cx="6858000" cy="1691640"/>
          </a:xfrm>
          <a:prstGeom prst="roundRect">
            <a:avLst>
              <a:gd name="adj" fmla="val 9729"/>
            </a:avLst>
          </a:prstGeom>
          <a:solidFill>
            <a:srgbClr val="241E5A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4617720"/>
            <a:ext cx="64008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FFD93B"/>
                </a:solidFill>
                <a:latin typeface="맑은 고딕"/>
                <a:ea typeface="맑은 고딕"/>
                <a:cs typeface="맑은 고딕"/>
              </a:rPr>
              <a:t>강의 · 상담 문의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5074920"/>
            <a:ext cx="64008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전화  010-3420-2083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이메일  80284@naver.com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강의 자료  webapp-coral-xi-52.vercel.app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11064240" cy="77724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무료 도구 한도 한눈에 (2026.10.29 기준)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493776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70432" y="338328"/>
            <a:ext cx="7670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50000">
                <a:srgbClr val="EC4899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338328"/>
            <a:ext cx="76708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74320"/>
            <a:ext cx="1600200" cy="457200"/>
          </a:xfrm>
          <a:prstGeom prst="rect">
            <a:avLst/>
          </a:prstGeom>
          <a:noFill/>
        </p:spPr>
        <p:txBody>
          <a:bodyPr wrap="square" lIns="0" tIns="0" rIns="4572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최재향 강사</a:t>
            </a:r>
          </a:p>
        </p:txBody>
      </p:sp>
      <p:pic>
        <p:nvPicPr>
          <p:cNvPr id="8" name="Picture 7" descr="cir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인공지능디지털연구소 · 최재향 | 여수 직장인 AI 업무효율화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4B8DC"/>
                </a:solidFill>
                <a:latin typeface="맑은 고딕"/>
                <a:ea typeface="맑은 고딕"/>
                <a:cs typeface="맑은 고딕"/>
              </a:rPr>
              <a:t>79 / 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11091672" cy="713232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10312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783080"/>
            <a:ext cx="411480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되는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783080"/>
            <a:ext cx="4873752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주의할 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11091672" cy="713232"/>
          </a:xfrm>
          <a:prstGeom prst="roundRect">
            <a:avLst>
              <a:gd name="adj" fmla="val 1282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51176"/>
            <a:ext cx="210312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ChatGPT 무료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551176"/>
            <a:ext cx="411480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텍스트 대화 무제한 · 프로젝트 사용 (파일 5개)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551176"/>
            <a:ext cx="4873752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파일 업로드 하루 3개 · 이미지는 "제한적" · 새 GPT 생성 불가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19272"/>
            <a:ext cx="11091672" cy="713232"/>
          </a:xfrm>
          <a:prstGeom prst="roundRect">
            <a:avLst>
              <a:gd name="adj" fmla="val 1282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19272"/>
            <a:ext cx="210312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 무료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319272"/>
            <a:ext cx="411480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이미지 · Canvas · Gem · Deep 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19272"/>
            <a:ext cx="4873752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사용량은 5시간마다 갱신(주간 상한) · Canvas 링크는 gemini.google.com에서만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87368"/>
            <a:ext cx="11091672" cy="713232"/>
          </a:xfrm>
          <a:prstGeom prst="roundRect">
            <a:avLst>
              <a:gd name="adj" fmla="val 1282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87368"/>
            <a:ext cx="210312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087368"/>
            <a:ext cx="411480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노트북 100개 · 소스 50개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087368"/>
            <a:ext cx="4873752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사용량은 5시간 단위로 갱신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55464"/>
            <a:ext cx="11091672" cy="713232"/>
          </a:xfrm>
          <a:prstGeom prst="roundRect">
            <a:avLst>
              <a:gd name="adj" fmla="val 1282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55464"/>
            <a:ext cx="210312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Suno 무료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855464"/>
            <a:ext cx="411480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하루 50크레딧 (곡 약 10개)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855464"/>
            <a:ext cx="4873752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무료 곡은 개인·비상업용만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59"/>
            <a:ext cx="11091672" cy="713232"/>
          </a:xfrm>
          <a:prstGeom prst="roundRect">
            <a:avLst>
              <a:gd name="adj" fmla="val 12820"/>
            </a:avLst>
          </a:prstGeom>
          <a:solidFill>
            <a:srgbClr val="1A1640"/>
          </a:solidFill>
          <a:ln w="12700">
            <a:solidFill>
              <a:srgbClr val="4A4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23559"/>
            <a:ext cx="210312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Google Vids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623559"/>
            <a:ext cx="4114800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 구글 계정으로 무료 이용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623559"/>
            <a:ext cx="4873752" cy="713232"/>
          </a:xfrm>
          <a:prstGeom prst="rect">
            <a:avLst/>
          </a:prstGeom>
          <a:noFill/>
        </p:spPr>
        <p:txBody>
          <a:bodyPr wrap="square" lIns="64008" tIns="0" rIns="6400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생성 월 6회(아바타+클립) · PC 전용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